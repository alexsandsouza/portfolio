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1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036DA-FF7E-D533-1B67-2A11400E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2B23B-652A-21EC-F432-21B100CB4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CAEB5-A679-B0ED-34DC-EF3074EA0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83F91-F1F8-7638-27ED-D08A05A6B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33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48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535F45F3-7C6C-9CAB-A55E-B424D20F3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22" name="Imagem 34">
            <a:extLst>
              <a:ext uri="{FF2B5EF4-FFF2-40B4-BE49-F238E27FC236}">
                <a16:creationId xmlns:a16="http://schemas.microsoft.com/office/drawing/2014/main" id="{50C3F5C0-8B97-399F-962B-071C32738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6928" y="6177064"/>
            <a:ext cx="740625" cy="740625"/>
          </a:xfrm>
          <a:prstGeom prst="rect">
            <a:avLst/>
          </a:prstGeom>
        </p:spPr>
      </p:pic>
      <p:pic>
        <p:nvPicPr>
          <p:cNvPr id="24" name="Imagem 38">
            <a:extLst>
              <a:ext uri="{FF2B5EF4-FFF2-40B4-BE49-F238E27FC236}">
                <a16:creationId xmlns:a16="http://schemas.microsoft.com/office/drawing/2014/main" id="{ACA3594F-3312-DCA6-BA14-424589848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39" y="6314165"/>
            <a:ext cx="543835" cy="543835"/>
          </a:xfrm>
          <a:prstGeom prst="rect">
            <a:avLst/>
          </a:prstGeom>
        </p:spPr>
      </p:pic>
      <p:pic>
        <p:nvPicPr>
          <p:cNvPr id="26" name="Imagem 42">
            <a:extLst>
              <a:ext uri="{FF2B5EF4-FFF2-40B4-BE49-F238E27FC236}">
                <a16:creationId xmlns:a16="http://schemas.microsoft.com/office/drawing/2014/main" id="{00D86012-7240-76D2-0550-43E8159AE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1254" y="6177064"/>
            <a:ext cx="1186807" cy="80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1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2" name="Imagem 5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2">
            <a:extLst>
              <a:ext uri="{FF2B5EF4-FFF2-40B4-BE49-F238E27FC236}">
                <a16:creationId xmlns:a16="http://schemas.microsoft.com/office/drawing/2014/main" id="{BAC03836-7D81-4BBE-BA19-4F4CE171BA28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FORMAÇÃO DOCENTE 2026.2</a:t>
            </a:r>
          </a:p>
        </p:txBody>
      </p:sp>
      <p:sp>
        <p:nvSpPr>
          <p:cNvPr id="4" name="footer-2">
            <a:extLst>
              <a:ext uri="{FF2B5EF4-FFF2-40B4-BE49-F238E27FC236}">
                <a16:creationId xmlns:a16="http://schemas.microsoft.com/office/drawing/2014/main" id="{97C830D0-E975-4801-93E8-0DE60C18A28E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2">
            <a:extLst>
              <a:ext uri="{FF2B5EF4-FFF2-40B4-BE49-F238E27FC236}">
                <a16:creationId xmlns:a16="http://schemas.microsoft.com/office/drawing/2014/main" id="{0A0C9FD1-DCE3-4D0B-BF32-19C86D29255F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2">
            <a:extLst>
              <a:ext uri="{FF2B5EF4-FFF2-40B4-BE49-F238E27FC236}">
                <a16:creationId xmlns:a16="http://schemas.microsoft.com/office/drawing/2014/main" id="{06B1E37F-0B31-476D-B31D-180399471F8F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DE597402-F2BD-405F-8BBE-FDD9F8E9A312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AGENDA DA FORMAÇÃO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F133C028-5AA2-4B96-B105-567B7114A8F4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35D63C4E-C355-46B5-B70E-8618589B2565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D93CEE4C-6E6B-4C8F-8F60-D20B237299EF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Percurso pedagógico do encontro</a:t>
            </a:r>
          </a:p>
        </p:txBody>
      </p:sp>
      <p:sp>
        <p:nvSpPr>
          <p:cNvPr id="11" name="agenda-1-circle">
            <a:extLst>
              <a:ext uri="{FF2B5EF4-FFF2-40B4-BE49-F238E27FC236}">
                <a16:creationId xmlns:a16="http://schemas.microsoft.com/office/drawing/2014/main" id="{CF8F789D-7321-42D9-9C3E-4269AD7F405F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438150" cy="4381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agenda-1-label">
            <a:extLst>
              <a:ext uri="{FF2B5EF4-FFF2-40B4-BE49-F238E27FC236}">
                <a16:creationId xmlns:a16="http://schemas.microsoft.com/office/drawing/2014/main" id="{D5364362-AE71-498A-8E8F-7476C750B1F5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agenda-card-1">
            <a:extLst>
              <a:ext uri="{FF2B5EF4-FFF2-40B4-BE49-F238E27FC236}">
                <a16:creationId xmlns:a16="http://schemas.microsoft.com/office/drawing/2014/main" id="{1D51D3EE-2DAC-4ACC-A417-40033A38FC69}"/>
              </a:ext>
            </a:extLst>
          </p:cNvPr>
          <p:cNvSpPr>
            <a:spLocks noGrp="1"/>
          </p:cNvSpPr>
          <p:nvPr/>
        </p:nvSpPr>
        <p:spPr>
          <a:xfrm>
            <a:off x="1981200" y="160020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4" name="agenda-text-1">
            <a:extLst>
              <a:ext uri="{FF2B5EF4-FFF2-40B4-BE49-F238E27FC236}">
                <a16:creationId xmlns:a16="http://schemas.microsoft.com/office/drawing/2014/main" id="{698CB5ED-A73D-415B-89A7-69EA646E35E3}"/>
              </a:ext>
            </a:extLst>
          </p:cNvPr>
          <p:cNvSpPr>
            <a:spLocks noGrp="1"/>
          </p:cNvSpPr>
          <p:nvPr/>
        </p:nvSpPr>
        <p:spPr>
          <a:xfrm>
            <a:off x="2171700" y="16383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 que avaliamos?</a:t>
            </a:r>
          </a:p>
        </p:txBody>
      </p:sp>
      <p:sp>
        <p:nvSpPr>
          <p:cNvPr id="15" name="agenda-2-circle">
            <a:extLst>
              <a:ext uri="{FF2B5EF4-FFF2-40B4-BE49-F238E27FC236}">
                <a16:creationId xmlns:a16="http://schemas.microsoft.com/office/drawing/2014/main" id="{A382DC5E-CB6B-4E73-B287-0B9A3C0A13AE}"/>
              </a:ext>
            </a:extLst>
          </p:cNvPr>
          <p:cNvSpPr>
            <a:spLocks noGrp="1"/>
          </p:cNvSpPr>
          <p:nvPr/>
        </p:nvSpPr>
        <p:spPr>
          <a:xfrm>
            <a:off x="1428750" y="2400300"/>
            <a:ext cx="438150" cy="4381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agenda-2-label">
            <a:extLst>
              <a:ext uri="{FF2B5EF4-FFF2-40B4-BE49-F238E27FC236}">
                <a16:creationId xmlns:a16="http://schemas.microsoft.com/office/drawing/2014/main" id="{18F873DC-FEBF-499D-ACCB-FD73CF3C2658}"/>
              </a:ext>
            </a:extLst>
          </p:cNvPr>
          <p:cNvSpPr>
            <a:spLocks noGrp="1"/>
          </p:cNvSpPr>
          <p:nvPr/>
        </p:nvSpPr>
        <p:spPr>
          <a:xfrm>
            <a:off x="1428750" y="24003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agenda-card-2">
            <a:extLst>
              <a:ext uri="{FF2B5EF4-FFF2-40B4-BE49-F238E27FC236}">
                <a16:creationId xmlns:a16="http://schemas.microsoft.com/office/drawing/2014/main" id="{F45059F0-2413-42A4-9DBB-E3E8D653847D}"/>
              </a:ext>
            </a:extLst>
          </p:cNvPr>
          <p:cNvSpPr>
            <a:spLocks noGrp="1"/>
          </p:cNvSpPr>
          <p:nvPr/>
        </p:nvSpPr>
        <p:spPr>
          <a:xfrm>
            <a:off x="1981200" y="238125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8" name="agenda-text-2">
            <a:extLst>
              <a:ext uri="{FF2B5EF4-FFF2-40B4-BE49-F238E27FC236}">
                <a16:creationId xmlns:a16="http://schemas.microsoft.com/office/drawing/2014/main" id="{8762521F-CA8E-4E5A-B1DB-04C450FAE6EE}"/>
              </a:ext>
            </a:extLst>
          </p:cNvPr>
          <p:cNvSpPr>
            <a:spLocks noGrp="1"/>
          </p:cNvSpPr>
          <p:nvPr/>
        </p:nvSpPr>
        <p:spPr>
          <a:xfrm>
            <a:off x="2171700" y="24193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Competências</a:t>
            </a:r>
          </a:p>
        </p:txBody>
      </p:sp>
      <p:sp>
        <p:nvSpPr>
          <p:cNvPr id="19" name="agenda-3-circle">
            <a:extLst>
              <a:ext uri="{FF2B5EF4-FFF2-40B4-BE49-F238E27FC236}">
                <a16:creationId xmlns:a16="http://schemas.microsoft.com/office/drawing/2014/main" id="{9184452B-7AD2-486B-B49C-E4FD15913FA0}"/>
              </a:ext>
            </a:extLst>
          </p:cNvPr>
          <p:cNvSpPr>
            <a:spLocks noGrp="1"/>
          </p:cNvSpPr>
          <p:nvPr/>
        </p:nvSpPr>
        <p:spPr>
          <a:xfrm>
            <a:off x="1428750" y="3181350"/>
            <a:ext cx="438150" cy="4381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agenda-3-label">
            <a:extLst>
              <a:ext uri="{FF2B5EF4-FFF2-40B4-BE49-F238E27FC236}">
                <a16:creationId xmlns:a16="http://schemas.microsoft.com/office/drawing/2014/main" id="{40F7B9E9-168E-437A-8E73-9476CF201506}"/>
              </a:ext>
            </a:extLst>
          </p:cNvPr>
          <p:cNvSpPr>
            <a:spLocks noGrp="1"/>
          </p:cNvSpPr>
          <p:nvPr/>
        </p:nvSpPr>
        <p:spPr>
          <a:xfrm>
            <a:off x="1428750" y="31813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agenda-card-3">
            <a:extLst>
              <a:ext uri="{FF2B5EF4-FFF2-40B4-BE49-F238E27FC236}">
                <a16:creationId xmlns:a16="http://schemas.microsoft.com/office/drawing/2014/main" id="{A747A388-70C2-47CF-9BF3-89A5D81C42E1}"/>
              </a:ext>
            </a:extLst>
          </p:cNvPr>
          <p:cNvSpPr>
            <a:spLocks noGrp="1"/>
          </p:cNvSpPr>
          <p:nvPr/>
        </p:nvSpPr>
        <p:spPr>
          <a:xfrm>
            <a:off x="1981200" y="316230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2" name="agenda-text-3">
            <a:extLst>
              <a:ext uri="{FF2B5EF4-FFF2-40B4-BE49-F238E27FC236}">
                <a16:creationId xmlns:a16="http://schemas.microsoft.com/office/drawing/2014/main" id="{381F7D2C-27AB-429B-9466-BD419B1C5573}"/>
              </a:ext>
            </a:extLst>
          </p:cNvPr>
          <p:cNvSpPr>
            <a:spLocks noGrp="1"/>
          </p:cNvSpPr>
          <p:nvPr/>
        </p:nvSpPr>
        <p:spPr>
          <a:xfrm>
            <a:off x="2171700" y="32004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Objetivos da disciplina</a:t>
            </a:r>
          </a:p>
        </p:txBody>
      </p:sp>
      <p:sp>
        <p:nvSpPr>
          <p:cNvPr id="23" name="agenda-4-circle">
            <a:extLst>
              <a:ext uri="{FF2B5EF4-FFF2-40B4-BE49-F238E27FC236}">
                <a16:creationId xmlns:a16="http://schemas.microsoft.com/office/drawing/2014/main" id="{835D9332-4422-4016-9A32-C3B0E7E38BB2}"/>
              </a:ext>
            </a:extLst>
          </p:cNvPr>
          <p:cNvSpPr>
            <a:spLocks noGrp="1"/>
          </p:cNvSpPr>
          <p:nvPr/>
        </p:nvSpPr>
        <p:spPr>
          <a:xfrm>
            <a:off x="1428750" y="3962400"/>
            <a:ext cx="438150" cy="4381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agenda-4-label">
            <a:extLst>
              <a:ext uri="{FF2B5EF4-FFF2-40B4-BE49-F238E27FC236}">
                <a16:creationId xmlns:a16="http://schemas.microsoft.com/office/drawing/2014/main" id="{55DBE056-605D-46F9-A93D-05803DC0D3B0}"/>
              </a:ext>
            </a:extLst>
          </p:cNvPr>
          <p:cNvSpPr>
            <a:spLocks noGrp="1"/>
          </p:cNvSpPr>
          <p:nvPr/>
        </p:nvSpPr>
        <p:spPr>
          <a:xfrm>
            <a:off x="1428750" y="39624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agenda-card-4">
            <a:extLst>
              <a:ext uri="{FF2B5EF4-FFF2-40B4-BE49-F238E27FC236}">
                <a16:creationId xmlns:a16="http://schemas.microsoft.com/office/drawing/2014/main" id="{418EE618-CAB1-4748-BDCA-B21307946508}"/>
              </a:ext>
            </a:extLst>
          </p:cNvPr>
          <p:cNvSpPr>
            <a:spLocks noGrp="1"/>
          </p:cNvSpPr>
          <p:nvPr/>
        </p:nvSpPr>
        <p:spPr>
          <a:xfrm>
            <a:off x="1981200" y="394335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6" name="agenda-text-4">
            <a:extLst>
              <a:ext uri="{FF2B5EF4-FFF2-40B4-BE49-F238E27FC236}">
                <a16:creationId xmlns:a16="http://schemas.microsoft.com/office/drawing/2014/main" id="{2EBBBFD5-DC15-4C24-B266-A4D32F621E80}"/>
              </a:ext>
            </a:extLst>
          </p:cNvPr>
          <p:cNvSpPr>
            <a:spLocks noGrp="1"/>
          </p:cNvSpPr>
          <p:nvPr/>
        </p:nvSpPr>
        <p:spPr>
          <a:xfrm>
            <a:off x="2171700" y="39814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ENADE e questões objetivas</a:t>
            </a:r>
          </a:p>
        </p:txBody>
      </p:sp>
      <p:sp>
        <p:nvSpPr>
          <p:cNvPr id="27" name="agenda-5-circle">
            <a:extLst>
              <a:ext uri="{FF2B5EF4-FFF2-40B4-BE49-F238E27FC236}">
                <a16:creationId xmlns:a16="http://schemas.microsoft.com/office/drawing/2014/main" id="{CED3F520-9688-4FA5-B22F-EB766DC5E443}"/>
              </a:ext>
            </a:extLst>
          </p:cNvPr>
          <p:cNvSpPr>
            <a:spLocks noGrp="1"/>
          </p:cNvSpPr>
          <p:nvPr/>
        </p:nvSpPr>
        <p:spPr>
          <a:xfrm>
            <a:off x="1428750" y="4743450"/>
            <a:ext cx="438150" cy="4381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agenda-5-label">
            <a:extLst>
              <a:ext uri="{FF2B5EF4-FFF2-40B4-BE49-F238E27FC236}">
                <a16:creationId xmlns:a16="http://schemas.microsoft.com/office/drawing/2014/main" id="{49CE890C-2F7F-46F9-9AC4-61918D445504}"/>
              </a:ext>
            </a:extLst>
          </p:cNvPr>
          <p:cNvSpPr>
            <a:spLocks noGrp="1"/>
          </p:cNvSpPr>
          <p:nvPr/>
        </p:nvSpPr>
        <p:spPr>
          <a:xfrm>
            <a:off x="1428750" y="47434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agenda-card-5">
            <a:extLst>
              <a:ext uri="{FF2B5EF4-FFF2-40B4-BE49-F238E27FC236}">
                <a16:creationId xmlns:a16="http://schemas.microsoft.com/office/drawing/2014/main" id="{4A86186F-DABD-408B-B939-67BE38B9DE1F}"/>
              </a:ext>
            </a:extLst>
          </p:cNvPr>
          <p:cNvSpPr>
            <a:spLocks noGrp="1"/>
          </p:cNvSpPr>
          <p:nvPr/>
        </p:nvSpPr>
        <p:spPr>
          <a:xfrm>
            <a:off x="1981200" y="472440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0" name="agenda-text-5">
            <a:extLst>
              <a:ext uri="{FF2B5EF4-FFF2-40B4-BE49-F238E27FC236}">
                <a16:creationId xmlns:a16="http://schemas.microsoft.com/office/drawing/2014/main" id="{6C5B06DA-D95F-49CC-AC1D-27096ACCED8F}"/>
              </a:ext>
            </a:extLst>
          </p:cNvPr>
          <p:cNvSpPr>
            <a:spLocks noGrp="1"/>
          </p:cNvSpPr>
          <p:nvPr/>
        </p:nvSpPr>
        <p:spPr>
          <a:xfrm>
            <a:off x="2171700" y="47625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Taxonomia de Bloom</a:t>
            </a:r>
          </a:p>
        </p:txBody>
      </p:sp>
      <p:sp>
        <p:nvSpPr>
          <p:cNvPr id="31" name="agenda-6-circle">
            <a:extLst>
              <a:ext uri="{FF2B5EF4-FFF2-40B4-BE49-F238E27FC236}">
                <a16:creationId xmlns:a16="http://schemas.microsoft.com/office/drawing/2014/main" id="{2E418AB4-0AE5-4305-835B-613FD92C653E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38150" cy="438150"/>
          </a:xfrm>
          <a:prstGeom prst="ellipse">
            <a:avLst/>
          </a:prstGeom>
          <a:solidFill>
            <a:srgbClr val="ED111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agenda-6-label">
            <a:extLst>
              <a:ext uri="{FF2B5EF4-FFF2-40B4-BE49-F238E27FC236}">
                <a16:creationId xmlns:a16="http://schemas.microsoft.com/office/drawing/2014/main" id="{F73A0DEE-43B9-4BEE-8C6F-DDC6B75F869F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agenda-card-6">
            <a:extLst>
              <a:ext uri="{FF2B5EF4-FFF2-40B4-BE49-F238E27FC236}">
                <a16:creationId xmlns:a16="http://schemas.microsoft.com/office/drawing/2014/main" id="{A995C4B8-7FF2-48D0-ADE7-0249E9A42AA5}"/>
              </a:ext>
            </a:extLst>
          </p:cNvPr>
          <p:cNvSpPr>
            <a:spLocks noGrp="1"/>
          </p:cNvSpPr>
          <p:nvPr/>
        </p:nvSpPr>
        <p:spPr>
          <a:xfrm>
            <a:off x="6743700" y="160020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4" name="agenda-text-6">
            <a:extLst>
              <a:ext uri="{FF2B5EF4-FFF2-40B4-BE49-F238E27FC236}">
                <a16:creationId xmlns:a16="http://schemas.microsoft.com/office/drawing/2014/main" id="{4325F805-E370-4696-A9D4-F2F2B297EA16}"/>
              </a:ext>
            </a:extLst>
          </p:cNvPr>
          <p:cNvSpPr>
            <a:spLocks noGrp="1"/>
          </p:cNvSpPr>
          <p:nvPr/>
        </p:nvSpPr>
        <p:spPr>
          <a:xfrm>
            <a:off x="6934200" y="16383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Tipos de questões objetivas</a:t>
            </a:r>
          </a:p>
        </p:txBody>
      </p:sp>
      <p:sp>
        <p:nvSpPr>
          <p:cNvPr id="35" name="agenda-7-circle">
            <a:extLst>
              <a:ext uri="{FF2B5EF4-FFF2-40B4-BE49-F238E27FC236}">
                <a16:creationId xmlns:a16="http://schemas.microsoft.com/office/drawing/2014/main" id="{6EBC79E0-E463-4228-AE11-36EDE1605D3C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438150" cy="438150"/>
          </a:xfrm>
          <a:prstGeom prst="ellipse">
            <a:avLst/>
          </a:prstGeom>
          <a:solidFill>
            <a:srgbClr val="ED111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agenda-7-label">
            <a:extLst>
              <a:ext uri="{FF2B5EF4-FFF2-40B4-BE49-F238E27FC236}">
                <a16:creationId xmlns:a16="http://schemas.microsoft.com/office/drawing/2014/main" id="{BF252A45-4CD3-4B32-8369-02330EFBBDA3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7" name="agenda-card-7">
            <a:extLst>
              <a:ext uri="{FF2B5EF4-FFF2-40B4-BE49-F238E27FC236}">
                <a16:creationId xmlns:a16="http://schemas.microsoft.com/office/drawing/2014/main" id="{CCEE9AC8-870D-4504-911D-8F9202CD938D}"/>
              </a:ext>
            </a:extLst>
          </p:cNvPr>
          <p:cNvSpPr>
            <a:spLocks noGrp="1"/>
          </p:cNvSpPr>
          <p:nvPr/>
        </p:nvSpPr>
        <p:spPr>
          <a:xfrm>
            <a:off x="6743700" y="238125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8" name="agenda-text-7">
            <a:extLst>
              <a:ext uri="{FF2B5EF4-FFF2-40B4-BE49-F238E27FC236}">
                <a16:creationId xmlns:a16="http://schemas.microsoft.com/office/drawing/2014/main" id="{7CB89345-0944-423A-9DB2-775F62F5328E}"/>
              </a:ext>
            </a:extLst>
          </p:cNvPr>
          <p:cNvSpPr>
            <a:spLocks noGrp="1"/>
          </p:cNvSpPr>
          <p:nvPr/>
        </p:nvSpPr>
        <p:spPr>
          <a:xfrm>
            <a:off x="6934200" y="24193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IA na formulação de questões</a:t>
            </a:r>
          </a:p>
        </p:txBody>
      </p:sp>
      <p:sp>
        <p:nvSpPr>
          <p:cNvPr id="39" name="agenda-8-circle">
            <a:extLst>
              <a:ext uri="{FF2B5EF4-FFF2-40B4-BE49-F238E27FC236}">
                <a16:creationId xmlns:a16="http://schemas.microsoft.com/office/drawing/2014/main" id="{4F24667B-03F1-457C-837F-275B2D90F3F3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38150" cy="438150"/>
          </a:xfrm>
          <a:prstGeom prst="ellipse">
            <a:avLst/>
          </a:prstGeom>
          <a:solidFill>
            <a:srgbClr val="ED111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agenda-8-label">
            <a:extLst>
              <a:ext uri="{FF2B5EF4-FFF2-40B4-BE49-F238E27FC236}">
                <a16:creationId xmlns:a16="http://schemas.microsoft.com/office/drawing/2014/main" id="{9385C03B-FBFF-4F78-8BDB-6FD2FE3110BD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agenda-card-8">
            <a:extLst>
              <a:ext uri="{FF2B5EF4-FFF2-40B4-BE49-F238E27FC236}">
                <a16:creationId xmlns:a16="http://schemas.microsoft.com/office/drawing/2014/main" id="{145E8334-48D1-47A8-9E67-534C34FEB406}"/>
              </a:ext>
            </a:extLst>
          </p:cNvPr>
          <p:cNvSpPr>
            <a:spLocks noGrp="1"/>
          </p:cNvSpPr>
          <p:nvPr/>
        </p:nvSpPr>
        <p:spPr>
          <a:xfrm>
            <a:off x="6743700" y="316230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42" name="agenda-text-8">
            <a:extLst>
              <a:ext uri="{FF2B5EF4-FFF2-40B4-BE49-F238E27FC236}">
                <a16:creationId xmlns:a16="http://schemas.microsoft.com/office/drawing/2014/main" id="{12A1E877-19D3-45F9-96F4-E4A660CE2B14}"/>
              </a:ext>
            </a:extLst>
          </p:cNvPr>
          <p:cNvSpPr>
            <a:spLocks noGrp="1"/>
          </p:cNvSpPr>
          <p:nvPr/>
        </p:nvSpPr>
        <p:spPr>
          <a:xfrm>
            <a:off x="6934200" y="32004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Importância do prompt</a:t>
            </a:r>
          </a:p>
        </p:txBody>
      </p:sp>
      <p:sp>
        <p:nvSpPr>
          <p:cNvPr id="43" name="agenda-9-circle">
            <a:extLst>
              <a:ext uri="{FF2B5EF4-FFF2-40B4-BE49-F238E27FC236}">
                <a16:creationId xmlns:a16="http://schemas.microsoft.com/office/drawing/2014/main" id="{B5C0822F-71B1-4A7C-9E43-D4576822C62A}"/>
              </a:ext>
            </a:extLst>
          </p:cNvPr>
          <p:cNvSpPr>
            <a:spLocks noGrp="1"/>
          </p:cNvSpPr>
          <p:nvPr/>
        </p:nvSpPr>
        <p:spPr>
          <a:xfrm>
            <a:off x="6191250" y="3962400"/>
            <a:ext cx="438150" cy="438150"/>
          </a:xfrm>
          <a:prstGeom prst="ellipse">
            <a:avLst/>
          </a:prstGeom>
          <a:solidFill>
            <a:srgbClr val="ED111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agenda-9-label">
            <a:extLst>
              <a:ext uri="{FF2B5EF4-FFF2-40B4-BE49-F238E27FC236}">
                <a16:creationId xmlns:a16="http://schemas.microsoft.com/office/drawing/2014/main" id="{3133EA10-57D1-4B67-9AFF-EFA18270E3A5}"/>
              </a:ext>
            </a:extLst>
          </p:cNvPr>
          <p:cNvSpPr>
            <a:spLocks noGrp="1"/>
          </p:cNvSpPr>
          <p:nvPr/>
        </p:nvSpPr>
        <p:spPr>
          <a:xfrm>
            <a:off x="6191250" y="39624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5" name="agenda-card-9">
            <a:extLst>
              <a:ext uri="{FF2B5EF4-FFF2-40B4-BE49-F238E27FC236}">
                <a16:creationId xmlns:a16="http://schemas.microsoft.com/office/drawing/2014/main" id="{344F54F0-F22C-419E-A31B-9D704C5B56AA}"/>
              </a:ext>
            </a:extLst>
          </p:cNvPr>
          <p:cNvSpPr>
            <a:spLocks noGrp="1"/>
          </p:cNvSpPr>
          <p:nvPr/>
        </p:nvSpPr>
        <p:spPr>
          <a:xfrm>
            <a:off x="6743700" y="394335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46" name="agenda-text-9">
            <a:extLst>
              <a:ext uri="{FF2B5EF4-FFF2-40B4-BE49-F238E27FC236}">
                <a16:creationId xmlns:a16="http://schemas.microsoft.com/office/drawing/2014/main" id="{3ACE5559-C89E-4608-B1A7-F0ECE2457AE1}"/>
              </a:ext>
            </a:extLst>
          </p:cNvPr>
          <p:cNvSpPr>
            <a:spLocks noGrp="1"/>
          </p:cNvSpPr>
          <p:nvPr/>
        </p:nvSpPr>
        <p:spPr>
          <a:xfrm>
            <a:off x="6934200" y="39814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Exemplos de formulação</a:t>
            </a:r>
          </a:p>
        </p:txBody>
      </p:sp>
      <p:sp>
        <p:nvSpPr>
          <p:cNvPr id="47" name="agenda-10-circle">
            <a:extLst>
              <a:ext uri="{FF2B5EF4-FFF2-40B4-BE49-F238E27FC236}">
                <a16:creationId xmlns:a16="http://schemas.microsoft.com/office/drawing/2014/main" id="{343AB201-6CAC-4AF4-92E6-AD488A2B3F88}"/>
              </a:ext>
            </a:extLst>
          </p:cNvPr>
          <p:cNvSpPr>
            <a:spLocks noGrp="1"/>
          </p:cNvSpPr>
          <p:nvPr/>
        </p:nvSpPr>
        <p:spPr>
          <a:xfrm>
            <a:off x="6191250" y="4743450"/>
            <a:ext cx="438150" cy="438150"/>
          </a:xfrm>
          <a:prstGeom prst="ellipse">
            <a:avLst/>
          </a:prstGeom>
          <a:solidFill>
            <a:srgbClr val="ED111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agenda-10-label">
            <a:extLst>
              <a:ext uri="{FF2B5EF4-FFF2-40B4-BE49-F238E27FC236}">
                <a16:creationId xmlns:a16="http://schemas.microsoft.com/office/drawing/2014/main" id="{4668AFE0-DA7C-4EE9-AA3A-307C3F9701E6}"/>
              </a:ext>
            </a:extLst>
          </p:cNvPr>
          <p:cNvSpPr>
            <a:spLocks noGrp="1"/>
          </p:cNvSpPr>
          <p:nvPr/>
        </p:nvSpPr>
        <p:spPr>
          <a:xfrm>
            <a:off x="6191250" y="47434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9" name="agenda-card-10">
            <a:extLst>
              <a:ext uri="{FF2B5EF4-FFF2-40B4-BE49-F238E27FC236}">
                <a16:creationId xmlns:a16="http://schemas.microsoft.com/office/drawing/2014/main" id="{6B83C750-1B2C-4508-9E97-F3963AAEE847}"/>
              </a:ext>
            </a:extLst>
          </p:cNvPr>
          <p:cNvSpPr>
            <a:spLocks noGrp="1"/>
          </p:cNvSpPr>
          <p:nvPr/>
        </p:nvSpPr>
        <p:spPr>
          <a:xfrm>
            <a:off x="6743700" y="4724400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50" name="agenda-text-10">
            <a:extLst>
              <a:ext uri="{FF2B5EF4-FFF2-40B4-BE49-F238E27FC236}">
                <a16:creationId xmlns:a16="http://schemas.microsoft.com/office/drawing/2014/main" id="{F9C1FAAC-01C5-4F0B-A321-CD0DCABA2593}"/>
              </a:ext>
            </a:extLst>
          </p:cNvPr>
          <p:cNvSpPr>
            <a:spLocks noGrp="1"/>
          </p:cNvSpPr>
          <p:nvPr/>
        </p:nvSpPr>
        <p:spPr>
          <a:xfrm>
            <a:off x="6934200" y="47625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Contribuição final</a:t>
            </a:r>
          </a:p>
        </p:txBody>
      </p:sp>
    </p:spTree>
    <p:extLst>
      <p:ext uri="{BB962C8B-B14F-4D97-AF65-F5344CB8AC3E}">
        <p14:creationId xmlns:p14="http://schemas.microsoft.com/office/powerpoint/2010/main" val="178190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3">
            <a:extLst>
              <a:ext uri="{FF2B5EF4-FFF2-40B4-BE49-F238E27FC236}">
                <a16:creationId xmlns:a16="http://schemas.microsoft.com/office/drawing/2014/main" id="{2CC67EB1-3EC9-4050-8FC7-74E6C65AF81E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AVALIAÇÃO DA APRENDIZAGEM</a:t>
            </a:r>
          </a:p>
        </p:txBody>
      </p:sp>
      <p:sp>
        <p:nvSpPr>
          <p:cNvPr id="4" name="footer-3">
            <a:extLst>
              <a:ext uri="{FF2B5EF4-FFF2-40B4-BE49-F238E27FC236}">
                <a16:creationId xmlns:a16="http://schemas.microsoft.com/office/drawing/2014/main" id="{FD831D51-3608-4F16-826F-B813B896C612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3">
            <a:extLst>
              <a:ext uri="{FF2B5EF4-FFF2-40B4-BE49-F238E27FC236}">
                <a16:creationId xmlns:a16="http://schemas.microsoft.com/office/drawing/2014/main" id="{7649DDF1-C04B-4911-9A3A-7B9A171D2AC6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3">
            <a:extLst>
              <a:ext uri="{FF2B5EF4-FFF2-40B4-BE49-F238E27FC236}">
                <a16:creationId xmlns:a16="http://schemas.microsoft.com/office/drawing/2014/main" id="{C39344FF-1778-48E6-AA2F-48460A993760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2A68D5CE-15CB-46A9-84CE-1AD18977AA52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 QUE AVALIAMOS?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E68B5903-30AB-4143-9FF9-F652C523A03C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3D6E34E2-05D0-4BD2-9B9D-39B94784DF1B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9524960A-9647-4BB1-A04B-127380E90333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Avaliação como leitura do processo formativo</a:t>
            </a:r>
          </a:p>
        </p:txBody>
      </p:sp>
      <p:sp>
        <p:nvSpPr>
          <p:cNvPr id="11" name="student-card">
            <a:extLst>
              <a:ext uri="{FF2B5EF4-FFF2-40B4-BE49-F238E27FC236}">
                <a16:creationId xmlns:a16="http://schemas.microsoft.com/office/drawing/2014/main" id="{E7889A2B-0E35-47D7-AB48-19509CC5B27F}"/>
              </a:ext>
            </a:extLst>
          </p:cNvPr>
          <p:cNvSpPr>
            <a:spLocks noGrp="1"/>
          </p:cNvSpPr>
          <p:nvPr/>
        </p:nvSpPr>
        <p:spPr>
          <a:xfrm>
            <a:off x="1428750" y="1762125"/>
            <a:ext cx="3857625" cy="2857500"/>
          </a:xfrm>
          <a:prstGeom prst="roundRect">
            <a:avLst>
              <a:gd name="adj" fmla="val 4000"/>
            </a:avLst>
          </a:prstGeom>
          <a:solidFill>
            <a:srgbClr val="E8F3FB"/>
          </a:solidFill>
          <a:ln w="14288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student-accent">
            <a:extLst>
              <a:ext uri="{FF2B5EF4-FFF2-40B4-BE49-F238E27FC236}">
                <a16:creationId xmlns:a16="http://schemas.microsoft.com/office/drawing/2014/main" id="{21CC0822-567D-4537-B445-F3442CAB5802}"/>
              </a:ext>
            </a:extLst>
          </p:cNvPr>
          <p:cNvSpPr>
            <a:spLocks noGrp="1"/>
          </p:cNvSpPr>
          <p:nvPr/>
        </p:nvSpPr>
        <p:spPr>
          <a:xfrm>
            <a:off x="1428750" y="1762125"/>
            <a:ext cx="76200" cy="2857500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tudent-title">
            <a:extLst>
              <a:ext uri="{FF2B5EF4-FFF2-40B4-BE49-F238E27FC236}">
                <a16:creationId xmlns:a16="http://schemas.microsoft.com/office/drawing/2014/main" id="{A9F18C24-F04E-4607-97BB-29E50E1797AA}"/>
              </a:ext>
            </a:extLst>
          </p:cNvPr>
          <p:cNvSpPr>
            <a:spLocks noGrp="1"/>
          </p:cNvSpPr>
          <p:nvPr/>
        </p:nvSpPr>
        <p:spPr>
          <a:xfrm>
            <a:off x="1657350" y="1876425"/>
            <a:ext cx="34575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DESEMPENHO DO ESTUDANTE</a:t>
            </a:r>
          </a:p>
        </p:txBody>
      </p:sp>
      <p:sp>
        <p:nvSpPr>
          <p:cNvPr id="14" name="student-body">
            <a:extLst>
              <a:ext uri="{FF2B5EF4-FFF2-40B4-BE49-F238E27FC236}">
                <a16:creationId xmlns:a16="http://schemas.microsoft.com/office/drawing/2014/main" id="{E12E0CF8-C372-495F-B6DA-6895FA717F37}"/>
              </a:ext>
            </a:extLst>
          </p:cNvPr>
          <p:cNvSpPr>
            <a:spLocks noGrp="1"/>
          </p:cNvSpPr>
          <p:nvPr/>
        </p:nvSpPr>
        <p:spPr>
          <a:xfrm>
            <a:off x="1657350" y="2428875"/>
            <a:ext cx="3438525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0" i="0" dirty="0" err="1">
                <a:solidFill>
                  <a:srgbClr val="17202B"/>
                </a:solidFill>
                <a:latin typeface="Arial"/>
                <a:ea typeface="Arial"/>
                <a:cs typeface="Arial"/>
              </a:rPr>
              <a:t>Evidências</a:t>
            </a:r>
            <a:r>
              <a:rPr sz="1800" b="0" i="0" dirty="0">
                <a:solidFill>
                  <a:srgbClr val="17202B"/>
                </a:solidFill>
                <a:latin typeface="Arial"/>
                <a:ea typeface="Arial"/>
                <a:cs typeface="Arial"/>
              </a:rPr>
              <a:t> de aprendizagem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0" i="0" dirty="0" err="1">
                <a:solidFill>
                  <a:srgbClr val="17202B"/>
                </a:solidFill>
                <a:latin typeface="Arial"/>
                <a:ea typeface="Arial"/>
                <a:cs typeface="Arial"/>
              </a:rPr>
              <a:t>Mobilização</a:t>
            </a:r>
            <a:r>
              <a:rPr sz="1800" b="0" i="0" dirty="0">
                <a:solidFill>
                  <a:srgbClr val="17202B"/>
                </a:solidFill>
                <a:latin typeface="Arial"/>
                <a:ea typeface="Arial"/>
                <a:cs typeface="Arial"/>
              </a:rPr>
              <a:t> de </a:t>
            </a:r>
            <a:r>
              <a:rPr sz="1800" b="0" i="0" dirty="0" err="1">
                <a:solidFill>
                  <a:srgbClr val="17202B"/>
                </a:solidFill>
                <a:latin typeface="Arial"/>
                <a:ea typeface="Arial"/>
                <a:cs typeface="Arial"/>
              </a:rPr>
              <a:t>conhecimentos</a:t>
            </a:r>
            <a:endParaRPr sz="1800" b="0" i="0" dirty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0" i="0" dirty="0" err="1">
                <a:solidFill>
                  <a:srgbClr val="17202B"/>
                </a:solidFill>
                <a:latin typeface="Arial"/>
                <a:ea typeface="Arial"/>
                <a:cs typeface="Arial"/>
              </a:rPr>
              <a:t>Resolução</a:t>
            </a:r>
            <a:r>
              <a:rPr sz="1800" b="0" i="0" dirty="0">
                <a:solidFill>
                  <a:srgbClr val="17202B"/>
                </a:solidFill>
                <a:latin typeface="Arial"/>
                <a:ea typeface="Arial"/>
                <a:cs typeface="Arial"/>
              </a:rPr>
              <a:t> de </a:t>
            </a:r>
            <a:r>
              <a:rPr sz="1800" b="0" i="0" dirty="0" err="1">
                <a:solidFill>
                  <a:srgbClr val="17202B"/>
                </a:solidFill>
                <a:latin typeface="Arial"/>
                <a:ea typeface="Arial"/>
                <a:cs typeface="Arial"/>
              </a:rPr>
              <a:t>problemas</a:t>
            </a:r>
            <a:endParaRPr sz="1800" b="0" i="0" dirty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Tomada de </a:t>
            </a:r>
            <a:r>
              <a:rPr sz="1800" b="0" i="0" dirty="0" err="1">
                <a:solidFill>
                  <a:srgbClr val="17202B"/>
                </a:solidFill>
                <a:latin typeface="Arial"/>
                <a:ea typeface="Arial"/>
                <a:cs typeface="Arial"/>
              </a:rPr>
              <a:t>decisão</a:t>
            </a:r>
            <a:endParaRPr sz="1800" b="0" i="0" dirty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Desenvolvimento de </a:t>
            </a:r>
            <a:r>
              <a:rPr sz="1800" b="0" i="0" dirty="0" err="1">
                <a:solidFill>
                  <a:srgbClr val="17202B"/>
                </a:solidFill>
                <a:latin typeface="Arial"/>
                <a:ea typeface="Arial"/>
                <a:cs typeface="Arial"/>
              </a:rPr>
              <a:t>competências</a:t>
            </a:r>
            <a:endParaRPr sz="1800" b="0" i="0" dirty="0">
              <a:solidFill>
                <a:srgbClr val="1720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assessment-plus-circle">
            <a:extLst>
              <a:ext uri="{FF2B5EF4-FFF2-40B4-BE49-F238E27FC236}">
                <a16:creationId xmlns:a16="http://schemas.microsoft.com/office/drawing/2014/main" id="{7F11BF10-E079-4776-A2FA-3E50AB3AA69C}"/>
              </a:ext>
            </a:extLst>
          </p:cNvPr>
          <p:cNvSpPr>
            <a:spLocks noGrp="1"/>
          </p:cNvSpPr>
          <p:nvPr/>
        </p:nvSpPr>
        <p:spPr>
          <a:xfrm>
            <a:off x="5619750" y="2762250"/>
            <a:ext cx="609600" cy="609600"/>
          </a:xfrm>
          <a:prstGeom prst="ellipse">
            <a:avLst/>
          </a:prstGeom>
          <a:solidFill>
            <a:srgbClr val="ED111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assessment-plus-label">
            <a:extLst>
              <a:ext uri="{FF2B5EF4-FFF2-40B4-BE49-F238E27FC236}">
                <a16:creationId xmlns:a16="http://schemas.microsoft.com/office/drawing/2014/main" id="{D16276B2-937D-443F-BE26-77798C531FF2}"/>
              </a:ext>
            </a:extLst>
          </p:cNvPr>
          <p:cNvSpPr>
            <a:spLocks noGrp="1"/>
          </p:cNvSpPr>
          <p:nvPr/>
        </p:nvSpPr>
        <p:spPr>
          <a:xfrm>
            <a:off x="5619750" y="276225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teacher-card">
            <a:extLst>
              <a:ext uri="{FF2B5EF4-FFF2-40B4-BE49-F238E27FC236}">
                <a16:creationId xmlns:a16="http://schemas.microsoft.com/office/drawing/2014/main" id="{33648135-F289-4001-98A4-C80E08F3384A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3857625" cy="2857500"/>
          </a:xfrm>
          <a:prstGeom prst="roundRect">
            <a:avLst>
              <a:gd name="adj" fmla="val 4000"/>
            </a:avLst>
          </a:prstGeom>
          <a:solidFill>
            <a:srgbClr val="FDEBED"/>
          </a:solidFill>
          <a:ln w="14288">
            <a:solidFill>
              <a:srgbClr val="ED111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8" name="teacher-accent">
            <a:extLst>
              <a:ext uri="{FF2B5EF4-FFF2-40B4-BE49-F238E27FC236}">
                <a16:creationId xmlns:a16="http://schemas.microsoft.com/office/drawing/2014/main" id="{93F2EDFB-9478-4944-BD5F-16A231D0F9D3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76200" cy="2857500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acher-title">
            <a:extLst>
              <a:ext uri="{FF2B5EF4-FFF2-40B4-BE49-F238E27FC236}">
                <a16:creationId xmlns:a16="http://schemas.microsoft.com/office/drawing/2014/main" id="{85CAF324-6B38-400F-9B5A-1896D529050E}"/>
              </a:ext>
            </a:extLst>
          </p:cNvPr>
          <p:cNvSpPr>
            <a:spLocks noGrp="1"/>
          </p:cNvSpPr>
          <p:nvPr/>
        </p:nvSpPr>
        <p:spPr>
          <a:xfrm>
            <a:off x="6800850" y="1876425"/>
            <a:ext cx="34575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ATUAÇÃO DO PROFESSOR</a:t>
            </a:r>
          </a:p>
        </p:txBody>
      </p:sp>
      <p:sp>
        <p:nvSpPr>
          <p:cNvPr id="20" name="teacher-body">
            <a:extLst>
              <a:ext uri="{FF2B5EF4-FFF2-40B4-BE49-F238E27FC236}">
                <a16:creationId xmlns:a16="http://schemas.microsoft.com/office/drawing/2014/main" id="{1F65A677-2571-4ADB-ADC6-8F1563B79EA2}"/>
              </a:ext>
            </a:extLst>
          </p:cNvPr>
          <p:cNvSpPr>
            <a:spLocks noGrp="1"/>
          </p:cNvSpPr>
          <p:nvPr/>
        </p:nvSpPr>
        <p:spPr>
          <a:xfrm>
            <a:off x="6800850" y="2428875"/>
            <a:ext cx="3438525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Clareza dos objetivos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Estratégias e metodologias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Qualidade das situações propostas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Feedback oferecido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Coerência entre ensinar e avaliar</a:t>
            </a:r>
          </a:p>
        </p:txBody>
      </p:sp>
      <p:sp>
        <p:nvSpPr>
          <p:cNvPr id="21" name="assessment-key-band">
            <a:extLst>
              <a:ext uri="{FF2B5EF4-FFF2-40B4-BE49-F238E27FC236}">
                <a16:creationId xmlns:a16="http://schemas.microsoft.com/office/drawing/2014/main" id="{9895BE89-8B10-424D-9DC1-E31EDD9D5069}"/>
              </a:ext>
            </a:extLst>
          </p:cNvPr>
          <p:cNvSpPr>
            <a:spLocks noGrp="1"/>
          </p:cNvSpPr>
          <p:nvPr/>
        </p:nvSpPr>
        <p:spPr>
          <a:xfrm>
            <a:off x="2000250" y="5048250"/>
            <a:ext cx="7810500" cy="438150"/>
          </a:xfrm>
          <a:prstGeom prst="roundRect">
            <a:avLst>
              <a:gd name="adj" fmla="val 26087"/>
            </a:avLst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2" name="assessment-key-text">
            <a:extLst>
              <a:ext uri="{FF2B5EF4-FFF2-40B4-BE49-F238E27FC236}">
                <a16:creationId xmlns:a16="http://schemas.microsoft.com/office/drawing/2014/main" id="{F6AD3557-EA0E-4AAF-B7EE-98E5AA1D43CA}"/>
              </a:ext>
            </a:extLst>
          </p:cNvPr>
          <p:cNvSpPr>
            <a:spLocks noGrp="1"/>
          </p:cNvSpPr>
          <p:nvPr/>
        </p:nvSpPr>
        <p:spPr>
          <a:xfrm>
            <a:off x="2171700" y="5086350"/>
            <a:ext cx="7467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Avaliar é observar o que o estudante aprende e como o ensino favorece essa aprendizagem.</a:t>
            </a:r>
          </a:p>
        </p:txBody>
      </p:sp>
    </p:spTree>
    <p:extLst>
      <p:ext uri="{BB962C8B-B14F-4D97-AF65-F5344CB8AC3E}">
        <p14:creationId xmlns:p14="http://schemas.microsoft.com/office/powerpoint/2010/main" val="94541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Imagem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4">
            <a:extLst>
              <a:ext uri="{FF2B5EF4-FFF2-40B4-BE49-F238E27FC236}">
                <a16:creationId xmlns:a16="http://schemas.microsoft.com/office/drawing/2014/main" id="{952E24CD-24E5-4395-BB36-34B33849466C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AVALIAÇÃO POR COMPETÊNCIAS</a:t>
            </a:r>
          </a:p>
        </p:txBody>
      </p:sp>
      <p:sp>
        <p:nvSpPr>
          <p:cNvPr id="4" name="footer-4">
            <a:extLst>
              <a:ext uri="{FF2B5EF4-FFF2-40B4-BE49-F238E27FC236}">
                <a16:creationId xmlns:a16="http://schemas.microsoft.com/office/drawing/2014/main" id="{0628FF94-A77D-4CB6-BB19-E5D1E89F39F3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4">
            <a:extLst>
              <a:ext uri="{FF2B5EF4-FFF2-40B4-BE49-F238E27FC236}">
                <a16:creationId xmlns:a16="http://schemas.microsoft.com/office/drawing/2014/main" id="{35EDBC14-3649-4C02-A4DF-C5E71B2CF36A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4">
            <a:extLst>
              <a:ext uri="{FF2B5EF4-FFF2-40B4-BE49-F238E27FC236}">
                <a16:creationId xmlns:a16="http://schemas.microsoft.com/office/drawing/2014/main" id="{4F521C2C-6B98-4100-92E5-074F3E959A59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8DA22782-72BD-4FE9-82DF-D091CF23EF22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OBJETIVOS, METODOLOGIAS E COMPETÊNCIAS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D6937FB4-0200-41C2-B0E2-DF1A97C95B99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FD7A8DF2-F261-475B-A3D1-D573F8238C10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92E72EC2-9AEC-42B0-9391-AFCDEE269C91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O alinhamento orienta decisões avaliativas</a:t>
            </a:r>
          </a:p>
        </p:txBody>
      </p:sp>
      <p:sp>
        <p:nvSpPr>
          <p:cNvPr id="11" name="objective-step-1-circle">
            <a:extLst>
              <a:ext uri="{FF2B5EF4-FFF2-40B4-BE49-F238E27FC236}">
                <a16:creationId xmlns:a16="http://schemas.microsoft.com/office/drawing/2014/main" id="{143EBF49-260F-4F4C-BFDD-B93B772D5E1D}"/>
              </a:ext>
            </a:extLst>
          </p:cNvPr>
          <p:cNvSpPr>
            <a:spLocks noGrp="1"/>
          </p:cNvSpPr>
          <p:nvPr/>
        </p:nvSpPr>
        <p:spPr>
          <a:xfrm>
            <a:off x="2524125" y="1638300"/>
            <a:ext cx="514350" cy="5143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objective-step-1-label">
            <a:extLst>
              <a:ext uri="{FF2B5EF4-FFF2-40B4-BE49-F238E27FC236}">
                <a16:creationId xmlns:a16="http://schemas.microsoft.com/office/drawing/2014/main" id="{3CFB9E3B-C666-4730-99BB-AFC0AF355976}"/>
              </a:ext>
            </a:extLst>
          </p:cNvPr>
          <p:cNvSpPr>
            <a:spLocks noGrp="1"/>
          </p:cNvSpPr>
          <p:nvPr/>
        </p:nvSpPr>
        <p:spPr>
          <a:xfrm>
            <a:off x="2524125" y="16383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objective-card-1-card">
            <a:extLst>
              <a:ext uri="{FF2B5EF4-FFF2-40B4-BE49-F238E27FC236}">
                <a16:creationId xmlns:a16="http://schemas.microsoft.com/office/drawing/2014/main" id="{9DE44611-5887-4EBC-BF90-C23D4744C938}"/>
              </a:ext>
            </a:extLst>
          </p:cNvPr>
          <p:cNvSpPr>
            <a:spLocks noGrp="1"/>
          </p:cNvSpPr>
          <p:nvPr/>
        </p:nvSpPr>
        <p:spPr>
          <a:xfrm>
            <a:off x="1285875" y="2238375"/>
            <a:ext cx="2952750" cy="2476500"/>
          </a:xfrm>
          <a:prstGeom prst="roundRect">
            <a:avLst>
              <a:gd name="adj" fmla="val 4615"/>
            </a:avLst>
          </a:prstGeom>
          <a:solidFill>
            <a:srgbClr val="E8F3FB"/>
          </a:solidFill>
          <a:ln w="14288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4" name="objective-card-1-accent">
            <a:extLst>
              <a:ext uri="{FF2B5EF4-FFF2-40B4-BE49-F238E27FC236}">
                <a16:creationId xmlns:a16="http://schemas.microsoft.com/office/drawing/2014/main" id="{F51C09FA-16EA-43C9-8ED3-835D7A37D05E}"/>
              </a:ext>
            </a:extLst>
          </p:cNvPr>
          <p:cNvSpPr>
            <a:spLocks noGrp="1"/>
          </p:cNvSpPr>
          <p:nvPr/>
        </p:nvSpPr>
        <p:spPr>
          <a:xfrm>
            <a:off x="1285875" y="2238375"/>
            <a:ext cx="76200" cy="2476500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objective-card-1-title">
            <a:extLst>
              <a:ext uri="{FF2B5EF4-FFF2-40B4-BE49-F238E27FC236}">
                <a16:creationId xmlns:a16="http://schemas.microsoft.com/office/drawing/2014/main" id="{71397BFA-3DD6-49C7-8B4C-CA7F1707ED87}"/>
              </a:ext>
            </a:extLst>
          </p:cNvPr>
          <p:cNvSpPr>
            <a:spLocks noGrp="1"/>
          </p:cNvSpPr>
          <p:nvPr/>
        </p:nvSpPr>
        <p:spPr>
          <a:xfrm>
            <a:off x="1514475" y="2352675"/>
            <a:ext cx="2552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OBJETIVOS</a:t>
            </a:r>
          </a:p>
        </p:txBody>
      </p:sp>
      <p:sp>
        <p:nvSpPr>
          <p:cNvPr id="16" name="objective-card-1-body">
            <a:extLst>
              <a:ext uri="{FF2B5EF4-FFF2-40B4-BE49-F238E27FC236}">
                <a16:creationId xmlns:a16="http://schemas.microsoft.com/office/drawing/2014/main" id="{2E8CF642-0DF6-4FB3-BEB3-7F2C10A573DC}"/>
              </a:ext>
            </a:extLst>
          </p:cNvPr>
          <p:cNvSpPr>
            <a:spLocks noGrp="1"/>
          </p:cNvSpPr>
          <p:nvPr/>
        </p:nvSpPr>
        <p:spPr>
          <a:xfrm>
            <a:off x="1514475" y="2905125"/>
            <a:ext cx="25336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O que o estudante deverá aprender e demonstrar ao final da disciplina.</a:t>
            </a:r>
          </a:p>
        </p:txBody>
      </p:sp>
      <p:sp>
        <p:nvSpPr>
          <p:cNvPr id="17" name="objective-arrow-1">
            <a:extLst>
              <a:ext uri="{FF2B5EF4-FFF2-40B4-BE49-F238E27FC236}">
                <a16:creationId xmlns:a16="http://schemas.microsoft.com/office/drawing/2014/main" id="{2E18D4C5-BF8A-4E07-AADE-DF3068D44EC7}"/>
              </a:ext>
            </a:extLst>
          </p:cNvPr>
          <p:cNvSpPr>
            <a:spLocks noGrp="1"/>
          </p:cNvSpPr>
          <p:nvPr/>
        </p:nvSpPr>
        <p:spPr>
          <a:xfrm>
            <a:off x="4238625" y="31051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95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objective-step-2-circle">
            <a:extLst>
              <a:ext uri="{FF2B5EF4-FFF2-40B4-BE49-F238E27FC236}">
                <a16:creationId xmlns:a16="http://schemas.microsoft.com/office/drawing/2014/main" id="{5328C0D2-5E06-4235-8BE9-0F2C9CAFDB94}"/>
              </a:ext>
            </a:extLst>
          </p:cNvPr>
          <p:cNvSpPr>
            <a:spLocks noGrp="1"/>
          </p:cNvSpPr>
          <p:nvPr/>
        </p:nvSpPr>
        <p:spPr>
          <a:xfrm>
            <a:off x="5857875" y="1638300"/>
            <a:ext cx="514350" cy="514350"/>
          </a:xfrm>
          <a:prstGeom prst="ellipse">
            <a:avLst/>
          </a:prstGeom>
          <a:solidFill>
            <a:srgbClr val="ED5B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objective-step-2-label">
            <a:extLst>
              <a:ext uri="{FF2B5EF4-FFF2-40B4-BE49-F238E27FC236}">
                <a16:creationId xmlns:a16="http://schemas.microsoft.com/office/drawing/2014/main" id="{0EFB9DB2-0CF5-418E-8447-F1CD74DBE174}"/>
              </a:ext>
            </a:extLst>
          </p:cNvPr>
          <p:cNvSpPr>
            <a:spLocks noGrp="1"/>
          </p:cNvSpPr>
          <p:nvPr/>
        </p:nvSpPr>
        <p:spPr>
          <a:xfrm>
            <a:off x="5857875" y="16383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objective-card-2-card">
            <a:extLst>
              <a:ext uri="{FF2B5EF4-FFF2-40B4-BE49-F238E27FC236}">
                <a16:creationId xmlns:a16="http://schemas.microsoft.com/office/drawing/2014/main" id="{8A4F861A-B629-4EB2-A7AE-D31BBA5B20AC}"/>
              </a:ext>
            </a:extLst>
          </p:cNvPr>
          <p:cNvSpPr>
            <a:spLocks noGrp="1"/>
          </p:cNvSpPr>
          <p:nvPr/>
        </p:nvSpPr>
        <p:spPr>
          <a:xfrm>
            <a:off x="4619625" y="2238375"/>
            <a:ext cx="2952750" cy="2476500"/>
          </a:xfrm>
          <a:prstGeom prst="roundRect">
            <a:avLst>
              <a:gd name="adj" fmla="val 4615"/>
            </a:avLst>
          </a:prstGeom>
          <a:solidFill>
            <a:srgbClr val="FFF0E7"/>
          </a:solidFill>
          <a:ln w="14288">
            <a:solidFill>
              <a:srgbClr val="ED5B1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objective-card-2-accent">
            <a:extLst>
              <a:ext uri="{FF2B5EF4-FFF2-40B4-BE49-F238E27FC236}">
                <a16:creationId xmlns:a16="http://schemas.microsoft.com/office/drawing/2014/main" id="{A91EB828-45EA-42C6-A459-EA638F293DA7}"/>
              </a:ext>
            </a:extLst>
          </p:cNvPr>
          <p:cNvSpPr>
            <a:spLocks noGrp="1"/>
          </p:cNvSpPr>
          <p:nvPr/>
        </p:nvSpPr>
        <p:spPr>
          <a:xfrm>
            <a:off x="4619625" y="2238375"/>
            <a:ext cx="76200" cy="2476500"/>
          </a:xfrm>
          <a:prstGeom prst="rect">
            <a:avLst/>
          </a:prstGeom>
          <a:solidFill>
            <a:srgbClr val="ED5B12"/>
          </a:solidFill>
          <a:ln w="0">
            <a:solidFill>
              <a:srgbClr val="ED5B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objective-card-2-title">
            <a:extLst>
              <a:ext uri="{FF2B5EF4-FFF2-40B4-BE49-F238E27FC236}">
                <a16:creationId xmlns:a16="http://schemas.microsoft.com/office/drawing/2014/main" id="{04E598F1-9861-4B10-9EF6-D2D920BF632C}"/>
              </a:ext>
            </a:extLst>
          </p:cNvPr>
          <p:cNvSpPr>
            <a:spLocks noGrp="1"/>
          </p:cNvSpPr>
          <p:nvPr/>
        </p:nvSpPr>
        <p:spPr>
          <a:xfrm>
            <a:off x="4848225" y="2352675"/>
            <a:ext cx="2552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ESTRATÉGIAS E RECURSOS</a:t>
            </a:r>
          </a:p>
        </p:txBody>
      </p:sp>
      <p:sp>
        <p:nvSpPr>
          <p:cNvPr id="23" name="objective-card-2-body">
            <a:extLst>
              <a:ext uri="{FF2B5EF4-FFF2-40B4-BE49-F238E27FC236}">
                <a16:creationId xmlns:a16="http://schemas.microsoft.com/office/drawing/2014/main" id="{EA652C65-D434-4BB5-88B9-381924F2A1C4}"/>
              </a:ext>
            </a:extLst>
          </p:cNvPr>
          <p:cNvSpPr>
            <a:spLocks noGrp="1"/>
          </p:cNvSpPr>
          <p:nvPr/>
        </p:nvSpPr>
        <p:spPr>
          <a:xfrm>
            <a:off x="4848225" y="2905125"/>
            <a:ext cx="25336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Como as experiências de aprendizagem serão organizadas para atingir os objetivos.</a:t>
            </a:r>
          </a:p>
        </p:txBody>
      </p:sp>
      <p:sp>
        <p:nvSpPr>
          <p:cNvPr id="24" name="objective-arrow-2">
            <a:extLst>
              <a:ext uri="{FF2B5EF4-FFF2-40B4-BE49-F238E27FC236}">
                <a16:creationId xmlns:a16="http://schemas.microsoft.com/office/drawing/2014/main" id="{32997519-DA71-451D-94C6-922560442A0E}"/>
              </a:ext>
            </a:extLst>
          </p:cNvPr>
          <p:cNvSpPr>
            <a:spLocks noGrp="1"/>
          </p:cNvSpPr>
          <p:nvPr/>
        </p:nvSpPr>
        <p:spPr>
          <a:xfrm>
            <a:off x="7572375" y="31051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95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objective-step-3-circle">
            <a:extLst>
              <a:ext uri="{FF2B5EF4-FFF2-40B4-BE49-F238E27FC236}">
                <a16:creationId xmlns:a16="http://schemas.microsoft.com/office/drawing/2014/main" id="{BC751E13-1DB2-4A66-9C29-26D34F90F788}"/>
              </a:ext>
            </a:extLst>
          </p:cNvPr>
          <p:cNvSpPr>
            <a:spLocks noGrp="1"/>
          </p:cNvSpPr>
          <p:nvPr/>
        </p:nvSpPr>
        <p:spPr>
          <a:xfrm>
            <a:off x="9191625" y="1638300"/>
            <a:ext cx="514350" cy="514350"/>
          </a:xfrm>
          <a:prstGeom prst="ellipse">
            <a:avLst/>
          </a:prstGeom>
          <a:solidFill>
            <a:srgbClr val="1182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objective-step-3-label">
            <a:extLst>
              <a:ext uri="{FF2B5EF4-FFF2-40B4-BE49-F238E27FC236}">
                <a16:creationId xmlns:a16="http://schemas.microsoft.com/office/drawing/2014/main" id="{9EE486B3-81BC-4092-9659-BB36FCDE5272}"/>
              </a:ext>
            </a:extLst>
          </p:cNvPr>
          <p:cNvSpPr>
            <a:spLocks noGrp="1"/>
          </p:cNvSpPr>
          <p:nvPr/>
        </p:nvSpPr>
        <p:spPr>
          <a:xfrm>
            <a:off x="9191625" y="16383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objective-card-3-card">
            <a:extLst>
              <a:ext uri="{FF2B5EF4-FFF2-40B4-BE49-F238E27FC236}">
                <a16:creationId xmlns:a16="http://schemas.microsoft.com/office/drawing/2014/main" id="{6C39706A-CEAF-4040-8DC0-37382FAE1074}"/>
              </a:ext>
            </a:extLst>
          </p:cNvPr>
          <p:cNvSpPr>
            <a:spLocks noGrp="1"/>
          </p:cNvSpPr>
          <p:nvPr/>
        </p:nvSpPr>
        <p:spPr>
          <a:xfrm>
            <a:off x="7953375" y="2238375"/>
            <a:ext cx="2952750" cy="2476500"/>
          </a:xfrm>
          <a:prstGeom prst="roundRect">
            <a:avLst>
              <a:gd name="adj" fmla="val 4615"/>
            </a:avLst>
          </a:prstGeom>
          <a:solidFill>
            <a:srgbClr val="E7F5ED"/>
          </a:solidFill>
          <a:ln w="14288">
            <a:solidFill>
              <a:srgbClr val="11824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8" name="objective-card-3-accent">
            <a:extLst>
              <a:ext uri="{FF2B5EF4-FFF2-40B4-BE49-F238E27FC236}">
                <a16:creationId xmlns:a16="http://schemas.microsoft.com/office/drawing/2014/main" id="{77F5CC8B-84BC-4222-BE31-00D907D868F4}"/>
              </a:ext>
            </a:extLst>
          </p:cNvPr>
          <p:cNvSpPr>
            <a:spLocks noGrp="1"/>
          </p:cNvSpPr>
          <p:nvPr/>
        </p:nvSpPr>
        <p:spPr>
          <a:xfrm>
            <a:off x="7953375" y="2238375"/>
            <a:ext cx="76200" cy="2476500"/>
          </a:xfrm>
          <a:prstGeom prst="rect">
            <a:avLst/>
          </a:prstGeom>
          <a:solidFill>
            <a:srgbClr val="11824B"/>
          </a:solidFill>
          <a:ln w="0">
            <a:solidFill>
              <a:srgbClr val="118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objective-card-3-title">
            <a:extLst>
              <a:ext uri="{FF2B5EF4-FFF2-40B4-BE49-F238E27FC236}">
                <a16:creationId xmlns:a16="http://schemas.microsoft.com/office/drawing/2014/main" id="{0E54E6C5-D1E6-40E9-A0DF-6817AC1B51E2}"/>
              </a:ext>
            </a:extLst>
          </p:cNvPr>
          <p:cNvSpPr>
            <a:spLocks noGrp="1"/>
          </p:cNvSpPr>
          <p:nvPr/>
        </p:nvSpPr>
        <p:spPr>
          <a:xfrm>
            <a:off x="8181975" y="2352675"/>
            <a:ext cx="2552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COMPETÊNCIAS</a:t>
            </a:r>
          </a:p>
        </p:txBody>
      </p:sp>
      <p:sp>
        <p:nvSpPr>
          <p:cNvPr id="30" name="objective-card-3-body">
            <a:extLst>
              <a:ext uri="{FF2B5EF4-FFF2-40B4-BE49-F238E27FC236}">
                <a16:creationId xmlns:a16="http://schemas.microsoft.com/office/drawing/2014/main" id="{D91373DA-57BE-468E-8B29-3CEBCEE8B72B}"/>
              </a:ext>
            </a:extLst>
          </p:cNvPr>
          <p:cNvSpPr>
            <a:spLocks noGrp="1"/>
          </p:cNvSpPr>
          <p:nvPr/>
        </p:nvSpPr>
        <p:spPr>
          <a:xfrm>
            <a:off x="8181975" y="2905125"/>
            <a:ext cx="25336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Que conhecimentos, habilidades e atitudes serão mobilizados em situações reais.</a:t>
            </a:r>
          </a:p>
        </p:txBody>
      </p:sp>
      <p:sp>
        <p:nvSpPr>
          <p:cNvPr id="31" name="objectives-key-band">
            <a:extLst>
              <a:ext uri="{FF2B5EF4-FFF2-40B4-BE49-F238E27FC236}">
                <a16:creationId xmlns:a16="http://schemas.microsoft.com/office/drawing/2014/main" id="{0AA0E677-6026-498F-8193-028436699210}"/>
              </a:ext>
            </a:extLst>
          </p:cNvPr>
          <p:cNvSpPr>
            <a:spLocks noGrp="1"/>
          </p:cNvSpPr>
          <p:nvPr/>
        </p:nvSpPr>
        <p:spPr>
          <a:xfrm>
            <a:off x="1809750" y="5143500"/>
            <a:ext cx="8191500" cy="438150"/>
          </a:xfrm>
          <a:prstGeom prst="roundRect">
            <a:avLst>
              <a:gd name="adj" fmla="val 26087"/>
            </a:avLst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2" name="objectives-key-text">
            <a:extLst>
              <a:ext uri="{FF2B5EF4-FFF2-40B4-BE49-F238E27FC236}">
                <a16:creationId xmlns:a16="http://schemas.microsoft.com/office/drawing/2014/main" id="{63C2ECFC-0DCD-45CE-B4F5-D583E716EF60}"/>
              </a:ext>
            </a:extLst>
          </p:cNvPr>
          <p:cNvSpPr>
            <a:spLocks noGrp="1"/>
          </p:cNvSpPr>
          <p:nvPr/>
        </p:nvSpPr>
        <p:spPr>
          <a:xfrm>
            <a:off x="1981200" y="5181600"/>
            <a:ext cx="784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Pergunta orientadora: quais objetivos da disciplina e quais competências desenvolver?</a:t>
            </a:r>
          </a:p>
        </p:txBody>
      </p:sp>
    </p:spTree>
    <p:extLst>
      <p:ext uri="{BB962C8B-B14F-4D97-AF65-F5344CB8AC3E}">
        <p14:creationId xmlns:p14="http://schemas.microsoft.com/office/powerpoint/2010/main" val="51927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5">
            <a:extLst>
              <a:ext uri="{FF2B5EF4-FFF2-40B4-BE49-F238E27FC236}">
                <a16:creationId xmlns:a16="http://schemas.microsoft.com/office/drawing/2014/main" id="{A65BE630-8FAA-49F0-A997-36D3F72DA06D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AVALIAÇÃO POR COMPETÊNCIAS</a:t>
            </a:r>
          </a:p>
        </p:txBody>
      </p:sp>
      <p:sp>
        <p:nvSpPr>
          <p:cNvPr id="4" name="footer-5">
            <a:extLst>
              <a:ext uri="{FF2B5EF4-FFF2-40B4-BE49-F238E27FC236}">
                <a16:creationId xmlns:a16="http://schemas.microsoft.com/office/drawing/2014/main" id="{49264639-0872-444A-A3B8-58C1592152B9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5">
            <a:extLst>
              <a:ext uri="{FF2B5EF4-FFF2-40B4-BE49-F238E27FC236}">
                <a16:creationId xmlns:a16="http://schemas.microsoft.com/office/drawing/2014/main" id="{36F9E868-8BD7-4008-9175-9C2FF2A8E848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5">
            <a:extLst>
              <a:ext uri="{FF2B5EF4-FFF2-40B4-BE49-F238E27FC236}">
                <a16:creationId xmlns:a16="http://schemas.microsoft.com/office/drawing/2014/main" id="{8F25D196-8777-4833-B6FE-42BC2BB15942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2605E883-6DFA-4EF7-AA44-F23257DE449F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 QUE É COMPETÊNCIA?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5A2C09C8-B327-4C9B-A011-FF061BF8B3D6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7C967591-1485-450A-8F13-1FB7F09C6B91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978E0E2D-4B19-4A18-B626-307387734196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Conhecimento em ação</a:t>
            </a:r>
          </a:p>
        </p:txBody>
      </p:sp>
      <p:sp>
        <p:nvSpPr>
          <p:cNvPr id="11" name="definition-panel">
            <a:extLst>
              <a:ext uri="{FF2B5EF4-FFF2-40B4-BE49-F238E27FC236}">
                <a16:creationId xmlns:a16="http://schemas.microsoft.com/office/drawing/2014/main" id="{E4B119E6-BEF0-4827-B7E6-184A19A142E2}"/>
              </a:ext>
            </a:extLst>
          </p:cNvPr>
          <p:cNvSpPr>
            <a:spLocks noGrp="1"/>
          </p:cNvSpPr>
          <p:nvPr/>
        </p:nvSpPr>
        <p:spPr>
          <a:xfrm>
            <a:off x="1381125" y="1762125"/>
            <a:ext cx="49530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definition-label">
            <a:extLst>
              <a:ext uri="{FF2B5EF4-FFF2-40B4-BE49-F238E27FC236}">
                <a16:creationId xmlns:a16="http://schemas.microsoft.com/office/drawing/2014/main" id="{224E6DDF-17CF-40F3-BD33-195640BE9B92}"/>
              </a:ext>
            </a:extLst>
          </p:cNvPr>
          <p:cNvSpPr>
            <a:spLocks noGrp="1"/>
          </p:cNvSpPr>
          <p:nvPr/>
        </p:nvSpPr>
        <p:spPr>
          <a:xfrm>
            <a:off x="1666875" y="19621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ED111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ED1118"/>
                </a:solidFill>
                <a:latin typeface="Arial Narrow"/>
                <a:ea typeface="Arial Narrow"/>
                <a:cs typeface="Arial Narrow"/>
              </a:rPr>
              <a:t>DEFINIÇÃO</a:t>
            </a:r>
          </a:p>
        </p:txBody>
      </p:sp>
      <p:sp>
        <p:nvSpPr>
          <p:cNvPr id="13" name="definition-text">
            <a:extLst>
              <a:ext uri="{FF2B5EF4-FFF2-40B4-BE49-F238E27FC236}">
                <a16:creationId xmlns:a16="http://schemas.microsoft.com/office/drawing/2014/main" id="{533EBDB1-A3F7-4087-84AD-6FAC0623F0D5}"/>
              </a:ext>
            </a:extLst>
          </p:cNvPr>
          <p:cNvSpPr>
            <a:spLocks noGrp="1"/>
          </p:cNvSpPr>
          <p:nvPr/>
        </p:nvSpPr>
        <p:spPr>
          <a:xfrm>
            <a:off x="1666875" y="2381250"/>
            <a:ext cx="4381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Competência é a mobilização de conhecimentos, habilidades e atitudes para desempenhar funções ou atividades típicas, segundo padrões de qualidade e produtividade.</a:t>
            </a:r>
          </a:p>
        </p:txBody>
      </p:sp>
      <p:sp>
        <p:nvSpPr>
          <p:cNvPr id="14" name="definition-note">
            <a:extLst>
              <a:ext uri="{FF2B5EF4-FFF2-40B4-BE49-F238E27FC236}">
                <a16:creationId xmlns:a16="http://schemas.microsoft.com/office/drawing/2014/main" id="{CA40E8E9-2A5A-4B43-B0C9-465221642A3C}"/>
              </a:ext>
            </a:extLst>
          </p:cNvPr>
          <p:cNvSpPr>
            <a:spLocks noGrp="1"/>
          </p:cNvSpPr>
          <p:nvPr/>
        </p:nvSpPr>
        <p:spPr>
          <a:xfrm>
            <a:off x="1666875" y="4095750"/>
            <a:ext cx="4333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5E6773"/>
                </a:solidFill>
                <a:latin typeface="Arial"/>
                <a:ea typeface="Arial"/>
                <a:cs typeface="Arial"/>
              </a:rPr>
              <a:t>Não basta saber: é preciso mobilizar o que se sabe diante de uma situação.</a:t>
            </a:r>
          </a:p>
        </p:txBody>
      </p:sp>
      <p:sp>
        <p:nvSpPr>
          <p:cNvPr id="15" name="competence-center">
            <a:extLst>
              <a:ext uri="{FF2B5EF4-FFF2-40B4-BE49-F238E27FC236}">
                <a16:creationId xmlns:a16="http://schemas.microsoft.com/office/drawing/2014/main" id="{9D6A3631-A496-4EE9-9B29-8422916B2419}"/>
              </a:ext>
            </a:extLst>
          </p:cNvPr>
          <p:cNvSpPr>
            <a:spLocks noGrp="1"/>
          </p:cNvSpPr>
          <p:nvPr/>
        </p:nvSpPr>
        <p:spPr>
          <a:xfrm>
            <a:off x="8405812" y="3429000"/>
            <a:ext cx="1381125" cy="1381125"/>
          </a:xfrm>
          <a:prstGeom prst="ellipse">
            <a:avLst/>
          </a:prstGeom>
          <a:solidFill>
            <a:srgbClr val="074C93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6" name="competence-center-text">
            <a:extLst>
              <a:ext uri="{FF2B5EF4-FFF2-40B4-BE49-F238E27FC236}">
                <a16:creationId xmlns:a16="http://schemas.microsoft.com/office/drawing/2014/main" id="{4A5B0F0F-D5D1-4D9A-9D88-8C9666F7DA92}"/>
              </a:ext>
            </a:extLst>
          </p:cNvPr>
          <p:cNvSpPr>
            <a:spLocks noGrp="1"/>
          </p:cNvSpPr>
          <p:nvPr/>
        </p:nvSpPr>
        <p:spPr>
          <a:xfrm>
            <a:off x="8405812" y="3581400"/>
            <a:ext cx="13811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COMPE-</a:t>
            </a:r>
          </a:p>
          <a:p>
            <a:pPr algn="ctr">
              <a:def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TÊNCIA</a:t>
            </a:r>
          </a:p>
        </p:txBody>
      </p:sp>
      <p:sp>
        <p:nvSpPr>
          <p:cNvPr id="21" name="petal-3">
            <a:extLst>
              <a:ext uri="{FF2B5EF4-FFF2-40B4-BE49-F238E27FC236}">
                <a16:creationId xmlns:a16="http://schemas.microsoft.com/office/drawing/2014/main" id="{48B3E6A5-9942-4EC6-8E74-873EBD81DFC3}"/>
              </a:ext>
            </a:extLst>
          </p:cNvPr>
          <p:cNvSpPr>
            <a:spLocks noGrp="1"/>
          </p:cNvSpPr>
          <p:nvPr/>
        </p:nvSpPr>
        <p:spPr>
          <a:xfrm>
            <a:off x="7977188" y="2390775"/>
            <a:ext cx="2000250" cy="819150"/>
          </a:xfrm>
          <a:prstGeom prst="ellipse">
            <a:avLst/>
          </a:prstGeom>
          <a:solidFill>
            <a:srgbClr val="FDEBED"/>
          </a:solidFill>
          <a:ln w="1905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petal-text-3">
            <a:extLst>
              <a:ext uri="{FF2B5EF4-FFF2-40B4-BE49-F238E27FC236}">
                <a16:creationId xmlns:a16="http://schemas.microsoft.com/office/drawing/2014/main" id="{7C721849-12F3-47D3-8007-DAE763F5740C}"/>
              </a:ext>
            </a:extLst>
          </p:cNvPr>
          <p:cNvSpPr>
            <a:spLocks noGrp="1"/>
          </p:cNvSpPr>
          <p:nvPr/>
        </p:nvSpPr>
        <p:spPr>
          <a:xfrm>
            <a:off x="8072438" y="246697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ED111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ED1118"/>
                </a:solidFill>
                <a:latin typeface="Arial Narrow"/>
                <a:ea typeface="Arial Narrow"/>
                <a:cs typeface="Arial Narrow"/>
              </a:rPr>
              <a:t>ATITUDES</a:t>
            </a:r>
          </a:p>
        </p:txBody>
      </p:sp>
      <p:sp>
        <p:nvSpPr>
          <p:cNvPr id="17" name="petal-1">
            <a:extLst>
              <a:ext uri="{FF2B5EF4-FFF2-40B4-BE49-F238E27FC236}">
                <a16:creationId xmlns:a16="http://schemas.microsoft.com/office/drawing/2014/main" id="{7E735F25-507F-4571-A39E-B7881F38FC4E}"/>
              </a:ext>
            </a:extLst>
          </p:cNvPr>
          <p:cNvSpPr>
            <a:spLocks noGrp="1"/>
          </p:cNvSpPr>
          <p:nvPr/>
        </p:nvSpPr>
        <p:spPr>
          <a:xfrm>
            <a:off x="7096125" y="1809750"/>
            <a:ext cx="2000250" cy="819150"/>
          </a:xfrm>
          <a:prstGeom prst="ellipse">
            <a:avLst/>
          </a:prstGeom>
          <a:solidFill>
            <a:srgbClr val="E8F3FB"/>
          </a:solidFill>
          <a:ln w="1905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petal-text-1">
            <a:extLst>
              <a:ext uri="{FF2B5EF4-FFF2-40B4-BE49-F238E27FC236}">
                <a16:creationId xmlns:a16="http://schemas.microsoft.com/office/drawing/2014/main" id="{CAAA9FCA-FFFE-4D78-898F-F19F775053B8}"/>
              </a:ext>
            </a:extLst>
          </p:cNvPr>
          <p:cNvSpPr>
            <a:spLocks noGrp="1"/>
          </p:cNvSpPr>
          <p:nvPr/>
        </p:nvSpPr>
        <p:spPr>
          <a:xfrm>
            <a:off x="7191375" y="1885950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74C93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74C93"/>
                </a:solidFill>
                <a:latin typeface="Arial Narrow"/>
                <a:ea typeface="Arial Narrow"/>
                <a:cs typeface="Arial Narrow"/>
              </a:rPr>
              <a:t>CONHECIMENTOS</a:t>
            </a:r>
          </a:p>
        </p:txBody>
      </p:sp>
      <p:sp>
        <p:nvSpPr>
          <p:cNvPr id="19" name="petal-2">
            <a:extLst>
              <a:ext uri="{FF2B5EF4-FFF2-40B4-BE49-F238E27FC236}">
                <a16:creationId xmlns:a16="http://schemas.microsoft.com/office/drawing/2014/main" id="{4C97FAA8-2050-43FD-99E9-51EABE1A9B10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2000250" cy="819150"/>
          </a:xfrm>
          <a:prstGeom prst="ellipse">
            <a:avLst/>
          </a:prstGeom>
          <a:solidFill>
            <a:srgbClr val="E7F5ED"/>
          </a:solidFill>
          <a:ln w="19050">
            <a:solidFill>
              <a:srgbClr val="118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petal-text-2">
            <a:extLst>
              <a:ext uri="{FF2B5EF4-FFF2-40B4-BE49-F238E27FC236}">
                <a16:creationId xmlns:a16="http://schemas.microsoft.com/office/drawing/2014/main" id="{6CDEFD34-D2F9-4E9C-8197-7DAFE2F50646}"/>
              </a:ext>
            </a:extLst>
          </p:cNvPr>
          <p:cNvSpPr>
            <a:spLocks noGrp="1"/>
          </p:cNvSpPr>
          <p:nvPr/>
        </p:nvSpPr>
        <p:spPr>
          <a:xfrm>
            <a:off x="8953500" y="1885950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11824B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11824B"/>
                </a:solidFill>
                <a:latin typeface="Arial Narrow"/>
                <a:ea typeface="Arial Narrow"/>
                <a:cs typeface="Arial Narrow"/>
              </a:rPr>
              <a:t>HABILIDADES</a:t>
            </a:r>
          </a:p>
        </p:txBody>
      </p:sp>
      <p:sp>
        <p:nvSpPr>
          <p:cNvPr id="23" name="competence-key-band">
            <a:extLst>
              <a:ext uri="{FF2B5EF4-FFF2-40B4-BE49-F238E27FC236}">
                <a16:creationId xmlns:a16="http://schemas.microsoft.com/office/drawing/2014/main" id="{AF0380E7-B65A-430B-8823-0C7E54C4C5A8}"/>
              </a:ext>
            </a:extLst>
          </p:cNvPr>
          <p:cNvSpPr>
            <a:spLocks noGrp="1"/>
          </p:cNvSpPr>
          <p:nvPr/>
        </p:nvSpPr>
        <p:spPr>
          <a:xfrm>
            <a:off x="1809750" y="5257800"/>
            <a:ext cx="8286750" cy="438150"/>
          </a:xfrm>
          <a:prstGeom prst="roundRect">
            <a:avLst>
              <a:gd name="adj" fmla="val 26087"/>
            </a:avLst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4" name="competence-key-text">
            <a:extLst>
              <a:ext uri="{FF2B5EF4-FFF2-40B4-BE49-F238E27FC236}">
                <a16:creationId xmlns:a16="http://schemas.microsoft.com/office/drawing/2014/main" id="{56AF0799-FE47-4FE6-A815-7F0CAEFA366F}"/>
              </a:ext>
            </a:extLst>
          </p:cNvPr>
          <p:cNvSpPr>
            <a:spLocks noGrp="1"/>
          </p:cNvSpPr>
          <p:nvPr/>
        </p:nvSpPr>
        <p:spPr>
          <a:xfrm>
            <a:off x="1981200" y="5295900"/>
            <a:ext cx="794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competência integra recursos cognitivos, práticos e atitudinais para gerar desempenho.</a:t>
            </a:r>
          </a:p>
        </p:txBody>
      </p:sp>
    </p:spTree>
    <p:extLst>
      <p:ext uri="{BB962C8B-B14F-4D97-AF65-F5344CB8AC3E}">
        <p14:creationId xmlns:p14="http://schemas.microsoft.com/office/powerpoint/2010/main" val="119767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6">
            <a:extLst>
              <a:ext uri="{FF2B5EF4-FFF2-40B4-BE49-F238E27FC236}">
                <a16:creationId xmlns:a16="http://schemas.microsoft.com/office/drawing/2014/main" id="{47C36AE4-97E8-4C58-BBB7-62B8623C639B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AVALIAÇÃO POR COMPETÊNCIAS</a:t>
            </a:r>
          </a:p>
        </p:txBody>
      </p:sp>
      <p:sp>
        <p:nvSpPr>
          <p:cNvPr id="4" name="footer-6">
            <a:extLst>
              <a:ext uri="{FF2B5EF4-FFF2-40B4-BE49-F238E27FC236}">
                <a16:creationId xmlns:a16="http://schemas.microsoft.com/office/drawing/2014/main" id="{7AC70FA0-A1C7-4509-AF3F-C4FDFF1C576E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6">
            <a:extLst>
              <a:ext uri="{FF2B5EF4-FFF2-40B4-BE49-F238E27FC236}">
                <a16:creationId xmlns:a16="http://schemas.microsoft.com/office/drawing/2014/main" id="{9A8EA962-BB90-4EFA-BCC4-B658BC59FFC6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6">
            <a:extLst>
              <a:ext uri="{FF2B5EF4-FFF2-40B4-BE49-F238E27FC236}">
                <a16:creationId xmlns:a16="http://schemas.microsoft.com/office/drawing/2014/main" id="{20D0538F-4527-4538-B8A3-DFAB19E5CFDC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A0364C31-C553-4075-9DD8-B9A6AB2BAB7E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DA TRANSMISSÃO À APRENDIZAGEM ATIVA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DF8D695F-482B-46F7-AEA1-3B31160C2712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D850F47C-6FE7-425F-94F3-D9B2679500F4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EF48D621-CB62-42FA-92D6-C6781484BA6D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O estudante como protagonista</a:t>
            </a:r>
          </a:p>
        </p:txBody>
      </p:sp>
      <p:sp>
        <p:nvSpPr>
          <p:cNvPr id="11" name="transmission-card">
            <a:extLst>
              <a:ext uri="{FF2B5EF4-FFF2-40B4-BE49-F238E27FC236}">
                <a16:creationId xmlns:a16="http://schemas.microsoft.com/office/drawing/2014/main" id="{AC1CB46B-BC4D-4898-B417-EE7D3F7FEADD}"/>
              </a:ext>
            </a:extLst>
          </p:cNvPr>
          <p:cNvSpPr>
            <a:spLocks noGrp="1"/>
          </p:cNvSpPr>
          <p:nvPr/>
        </p:nvSpPr>
        <p:spPr>
          <a:xfrm>
            <a:off x="1428750" y="1762125"/>
            <a:ext cx="3714750" cy="3048000"/>
          </a:xfrm>
          <a:prstGeom prst="roundRect">
            <a:avLst>
              <a:gd name="adj" fmla="val 3750"/>
            </a:avLst>
          </a:prstGeom>
          <a:solidFill>
            <a:srgbClr val="FDEBED"/>
          </a:solidFill>
          <a:ln w="14288">
            <a:solidFill>
              <a:srgbClr val="ED111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transmission-accent">
            <a:extLst>
              <a:ext uri="{FF2B5EF4-FFF2-40B4-BE49-F238E27FC236}">
                <a16:creationId xmlns:a16="http://schemas.microsoft.com/office/drawing/2014/main" id="{28EC9770-C6F5-4D2B-9121-06E97456C2D7}"/>
              </a:ext>
            </a:extLst>
          </p:cNvPr>
          <p:cNvSpPr>
            <a:spLocks noGrp="1"/>
          </p:cNvSpPr>
          <p:nvPr/>
        </p:nvSpPr>
        <p:spPr>
          <a:xfrm>
            <a:off x="1428750" y="1762125"/>
            <a:ext cx="76200" cy="3048000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ransmission-title">
            <a:extLst>
              <a:ext uri="{FF2B5EF4-FFF2-40B4-BE49-F238E27FC236}">
                <a16:creationId xmlns:a16="http://schemas.microsoft.com/office/drawing/2014/main" id="{7FF379E4-781B-4762-972A-B0B10A33467F}"/>
              </a:ext>
            </a:extLst>
          </p:cNvPr>
          <p:cNvSpPr>
            <a:spLocks noGrp="1"/>
          </p:cNvSpPr>
          <p:nvPr/>
        </p:nvSpPr>
        <p:spPr>
          <a:xfrm>
            <a:off x="1657350" y="1876425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TRANSMISSÃO DE CONTEÚDOS</a:t>
            </a:r>
          </a:p>
        </p:txBody>
      </p:sp>
      <p:sp>
        <p:nvSpPr>
          <p:cNvPr id="14" name="transmission-body">
            <a:extLst>
              <a:ext uri="{FF2B5EF4-FFF2-40B4-BE49-F238E27FC236}">
                <a16:creationId xmlns:a16="http://schemas.microsoft.com/office/drawing/2014/main" id="{BA4C0010-5D9F-4DF8-AE51-DE7CD3321A43}"/>
              </a:ext>
            </a:extLst>
          </p:cNvPr>
          <p:cNvSpPr>
            <a:spLocks noGrp="1"/>
          </p:cNvSpPr>
          <p:nvPr/>
        </p:nvSpPr>
        <p:spPr>
          <a:xfrm>
            <a:off x="1657350" y="2428875"/>
            <a:ext cx="3295650" cy="2228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Professor como fonte principal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Ênfase na exposição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Estudante reproduz informações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Avaliação centrada na memória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Pouca conexão com contextos reais</a:t>
            </a:r>
          </a:p>
        </p:txBody>
      </p:sp>
      <p:sp>
        <p:nvSpPr>
          <p:cNvPr id="15" name="shift-arrow">
            <a:extLst>
              <a:ext uri="{FF2B5EF4-FFF2-40B4-BE49-F238E27FC236}">
                <a16:creationId xmlns:a16="http://schemas.microsoft.com/office/drawing/2014/main" id="{29B3B8C5-EF6E-4C5A-8FA5-B2AEBDA1C76F}"/>
              </a:ext>
            </a:extLst>
          </p:cNvPr>
          <p:cNvSpPr>
            <a:spLocks noGrp="1"/>
          </p:cNvSpPr>
          <p:nvPr/>
        </p:nvSpPr>
        <p:spPr>
          <a:xfrm>
            <a:off x="5429250" y="295275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375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protagonism-card">
            <a:extLst>
              <a:ext uri="{FF2B5EF4-FFF2-40B4-BE49-F238E27FC236}">
                <a16:creationId xmlns:a16="http://schemas.microsoft.com/office/drawing/2014/main" id="{DF602D52-E1FE-49DC-AA55-8A543ED6F1A7}"/>
              </a:ext>
            </a:extLst>
          </p:cNvPr>
          <p:cNvSpPr>
            <a:spLocks noGrp="1"/>
          </p:cNvSpPr>
          <p:nvPr/>
        </p:nvSpPr>
        <p:spPr>
          <a:xfrm>
            <a:off x="6477000" y="1762125"/>
            <a:ext cx="3905250" cy="3048000"/>
          </a:xfrm>
          <a:prstGeom prst="roundRect">
            <a:avLst>
              <a:gd name="adj" fmla="val 3750"/>
            </a:avLst>
          </a:prstGeom>
          <a:solidFill>
            <a:srgbClr val="E7F5ED"/>
          </a:solidFill>
          <a:ln w="14288">
            <a:solidFill>
              <a:srgbClr val="11824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7" name="protagonism-accent">
            <a:extLst>
              <a:ext uri="{FF2B5EF4-FFF2-40B4-BE49-F238E27FC236}">
                <a16:creationId xmlns:a16="http://schemas.microsoft.com/office/drawing/2014/main" id="{26246896-7732-4535-BC3E-92E4089F3BB2}"/>
              </a:ext>
            </a:extLst>
          </p:cNvPr>
          <p:cNvSpPr>
            <a:spLocks noGrp="1"/>
          </p:cNvSpPr>
          <p:nvPr/>
        </p:nvSpPr>
        <p:spPr>
          <a:xfrm>
            <a:off x="6477000" y="1762125"/>
            <a:ext cx="76200" cy="3048000"/>
          </a:xfrm>
          <a:prstGeom prst="rect">
            <a:avLst/>
          </a:prstGeom>
          <a:solidFill>
            <a:srgbClr val="11824B"/>
          </a:solidFill>
          <a:ln w="0">
            <a:solidFill>
              <a:srgbClr val="118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protagonism-title">
            <a:extLst>
              <a:ext uri="{FF2B5EF4-FFF2-40B4-BE49-F238E27FC236}">
                <a16:creationId xmlns:a16="http://schemas.microsoft.com/office/drawing/2014/main" id="{487444FD-6979-4AF0-B7EE-21E372917603}"/>
              </a:ext>
            </a:extLst>
          </p:cNvPr>
          <p:cNvSpPr>
            <a:spLocks noGrp="1"/>
          </p:cNvSpPr>
          <p:nvPr/>
        </p:nvSpPr>
        <p:spPr>
          <a:xfrm>
            <a:off x="6705600" y="1876425"/>
            <a:ext cx="3505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PROTAGONISMO DO ESTUDANTE</a:t>
            </a:r>
          </a:p>
        </p:txBody>
      </p:sp>
      <p:sp>
        <p:nvSpPr>
          <p:cNvPr id="19" name="protagonism-body">
            <a:extLst>
              <a:ext uri="{FF2B5EF4-FFF2-40B4-BE49-F238E27FC236}">
                <a16:creationId xmlns:a16="http://schemas.microsoft.com/office/drawing/2014/main" id="{C416B08B-07E1-40D0-9127-19E64F688C99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3486150" cy="2228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Professor como mediador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Ênfase em problemas e projetos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Estudante analisa e decide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Avaliação baseada em evidências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Alinhamento às demandas profissionais</a:t>
            </a:r>
          </a:p>
        </p:txBody>
      </p:sp>
      <p:sp>
        <p:nvSpPr>
          <p:cNvPr id="20" name="active-key-band">
            <a:extLst>
              <a:ext uri="{FF2B5EF4-FFF2-40B4-BE49-F238E27FC236}">
                <a16:creationId xmlns:a16="http://schemas.microsoft.com/office/drawing/2014/main" id="{FABCEDA8-97BE-4F58-92AB-41A598276F2B}"/>
              </a:ext>
            </a:extLst>
          </p:cNvPr>
          <p:cNvSpPr>
            <a:spLocks noGrp="1"/>
          </p:cNvSpPr>
          <p:nvPr/>
        </p:nvSpPr>
        <p:spPr>
          <a:xfrm>
            <a:off x="1952625" y="5191125"/>
            <a:ext cx="7905750" cy="438150"/>
          </a:xfrm>
          <a:prstGeom prst="roundRect">
            <a:avLst>
              <a:gd name="adj" fmla="val 26087"/>
            </a:avLst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active-key-text">
            <a:extLst>
              <a:ext uri="{FF2B5EF4-FFF2-40B4-BE49-F238E27FC236}">
                <a16:creationId xmlns:a16="http://schemas.microsoft.com/office/drawing/2014/main" id="{52E429F4-FE1B-4685-8CA9-B957DFCFB4C2}"/>
              </a:ext>
            </a:extLst>
          </p:cNvPr>
          <p:cNvSpPr>
            <a:spLocks noGrp="1"/>
          </p:cNvSpPr>
          <p:nvPr/>
        </p:nvSpPr>
        <p:spPr>
          <a:xfrm>
            <a:off x="2124075" y="5229225"/>
            <a:ext cx="7562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competência se contrapõe à simples transmissão: ela exige ação, contexto e propósito.</a:t>
            </a:r>
          </a:p>
        </p:txBody>
      </p:sp>
    </p:spTree>
    <p:extLst>
      <p:ext uri="{BB962C8B-B14F-4D97-AF65-F5344CB8AC3E}">
        <p14:creationId xmlns:p14="http://schemas.microsoft.com/office/powerpoint/2010/main" val="570937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m 3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1" name="Imagem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7">
            <a:extLst>
              <a:ext uri="{FF2B5EF4-FFF2-40B4-BE49-F238E27FC236}">
                <a16:creationId xmlns:a16="http://schemas.microsoft.com/office/drawing/2014/main" id="{BF89C74B-42F7-42E3-858A-717E5D2D3057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AVALIAÇÃO POR COMPETÊNCIAS</a:t>
            </a:r>
          </a:p>
        </p:txBody>
      </p:sp>
      <p:sp>
        <p:nvSpPr>
          <p:cNvPr id="4" name="footer-7">
            <a:extLst>
              <a:ext uri="{FF2B5EF4-FFF2-40B4-BE49-F238E27FC236}">
                <a16:creationId xmlns:a16="http://schemas.microsoft.com/office/drawing/2014/main" id="{C5A7B1BC-0ED4-4254-9020-68ABA76A1FFB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7">
            <a:extLst>
              <a:ext uri="{FF2B5EF4-FFF2-40B4-BE49-F238E27FC236}">
                <a16:creationId xmlns:a16="http://schemas.microsoft.com/office/drawing/2014/main" id="{E89B3E54-C0D4-4399-ABA1-EF31806CDCE9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7">
            <a:extLst>
              <a:ext uri="{FF2B5EF4-FFF2-40B4-BE49-F238E27FC236}">
                <a16:creationId xmlns:a16="http://schemas.microsoft.com/office/drawing/2014/main" id="{DA1F07F3-B2B9-4D50-8C7F-FB9FDAAE8D06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F9693572-9492-43E1-8638-F2B98D3D98BB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AVALIAÇÃO JUSTA EXIGE ALINHAMENTO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15DD9716-5C42-4E1A-8D56-A9D8849061FB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69FC6F6E-AC28-4B98-8BF5-78FA31CF37BF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EBE36D6C-C157-4A4F-826B-7FD636232D24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Do planejamento à evidência de aprendizagem</a:t>
            </a:r>
          </a:p>
        </p:txBody>
      </p:sp>
      <p:sp>
        <p:nvSpPr>
          <p:cNvPr id="11" name="alignment-1-circle">
            <a:extLst>
              <a:ext uri="{FF2B5EF4-FFF2-40B4-BE49-F238E27FC236}">
                <a16:creationId xmlns:a16="http://schemas.microsoft.com/office/drawing/2014/main" id="{C8ABACC0-0819-4C60-AD8D-26B781B72930}"/>
              </a:ext>
            </a:extLst>
          </p:cNvPr>
          <p:cNvSpPr>
            <a:spLocks noGrp="1"/>
          </p:cNvSpPr>
          <p:nvPr/>
        </p:nvSpPr>
        <p:spPr>
          <a:xfrm>
            <a:off x="2124075" y="1714500"/>
            <a:ext cx="476250" cy="4762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alignment-1-label">
            <a:extLst>
              <a:ext uri="{FF2B5EF4-FFF2-40B4-BE49-F238E27FC236}">
                <a16:creationId xmlns:a16="http://schemas.microsoft.com/office/drawing/2014/main" id="{F63C35D9-E814-47C4-8D2C-9A1FB065B535}"/>
              </a:ext>
            </a:extLst>
          </p:cNvPr>
          <p:cNvSpPr>
            <a:spLocks noGrp="1"/>
          </p:cNvSpPr>
          <p:nvPr/>
        </p:nvSpPr>
        <p:spPr>
          <a:xfrm>
            <a:off x="2124075" y="1714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alignment-card-1-card">
            <a:extLst>
              <a:ext uri="{FF2B5EF4-FFF2-40B4-BE49-F238E27FC236}">
                <a16:creationId xmlns:a16="http://schemas.microsoft.com/office/drawing/2014/main" id="{3AC7B095-B659-4160-9B3B-15C5AB6052C1}"/>
              </a:ext>
            </a:extLst>
          </p:cNvPr>
          <p:cNvSpPr>
            <a:spLocks noGrp="1"/>
          </p:cNvSpPr>
          <p:nvPr/>
        </p:nvSpPr>
        <p:spPr>
          <a:xfrm>
            <a:off x="1285875" y="2333625"/>
            <a:ext cx="2143125" cy="23812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4288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4" name="alignment-card-1-accent">
            <a:extLst>
              <a:ext uri="{FF2B5EF4-FFF2-40B4-BE49-F238E27FC236}">
                <a16:creationId xmlns:a16="http://schemas.microsoft.com/office/drawing/2014/main" id="{1A10AA4F-554E-492E-8B43-84684BB4525B}"/>
              </a:ext>
            </a:extLst>
          </p:cNvPr>
          <p:cNvSpPr>
            <a:spLocks noGrp="1"/>
          </p:cNvSpPr>
          <p:nvPr/>
        </p:nvSpPr>
        <p:spPr>
          <a:xfrm>
            <a:off x="1285875" y="2333625"/>
            <a:ext cx="76200" cy="2381250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alignment-card-1-title">
            <a:extLst>
              <a:ext uri="{FF2B5EF4-FFF2-40B4-BE49-F238E27FC236}">
                <a16:creationId xmlns:a16="http://schemas.microsoft.com/office/drawing/2014/main" id="{091FEE05-293E-4F89-BE86-21643021786D}"/>
              </a:ext>
            </a:extLst>
          </p:cNvPr>
          <p:cNvSpPr>
            <a:spLocks noGrp="1"/>
          </p:cNvSpPr>
          <p:nvPr/>
        </p:nvSpPr>
        <p:spPr>
          <a:xfrm>
            <a:off x="1514475" y="2447925"/>
            <a:ext cx="17430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OBJETIVOS</a:t>
            </a:r>
          </a:p>
        </p:txBody>
      </p:sp>
      <p:sp>
        <p:nvSpPr>
          <p:cNvPr id="16" name="alignment-card-1-body">
            <a:extLst>
              <a:ext uri="{FF2B5EF4-FFF2-40B4-BE49-F238E27FC236}">
                <a16:creationId xmlns:a16="http://schemas.microsoft.com/office/drawing/2014/main" id="{51E8CA3B-B7AC-4261-94EC-50F88ACA66D9}"/>
              </a:ext>
            </a:extLst>
          </p:cNvPr>
          <p:cNvSpPr>
            <a:spLocks noGrp="1"/>
          </p:cNvSpPr>
          <p:nvPr/>
        </p:nvSpPr>
        <p:spPr>
          <a:xfrm>
            <a:off x="1514475" y="3000375"/>
            <a:ext cx="172402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Definir o que se espera que o estudante aprenda.</a:t>
            </a:r>
          </a:p>
        </p:txBody>
      </p:sp>
      <p:sp>
        <p:nvSpPr>
          <p:cNvPr id="17" name="alignment-arrow-1">
            <a:extLst>
              <a:ext uri="{FF2B5EF4-FFF2-40B4-BE49-F238E27FC236}">
                <a16:creationId xmlns:a16="http://schemas.microsoft.com/office/drawing/2014/main" id="{B556052D-3904-473D-814E-334B4E99985D}"/>
              </a:ext>
            </a:extLst>
          </p:cNvPr>
          <p:cNvSpPr>
            <a:spLocks noGrp="1"/>
          </p:cNvSpPr>
          <p:nvPr/>
        </p:nvSpPr>
        <p:spPr>
          <a:xfrm>
            <a:off x="3476625" y="31432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95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alignment-2-circle">
            <a:extLst>
              <a:ext uri="{FF2B5EF4-FFF2-40B4-BE49-F238E27FC236}">
                <a16:creationId xmlns:a16="http://schemas.microsoft.com/office/drawing/2014/main" id="{870FD2AE-F4FE-451B-BE0D-4897BED05E70}"/>
              </a:ext>
            </a:extLst>
          </p:cNvPr>
          <p:cNvSpPr>
            <a:spLocks noGrp="1"/>
          </p:cNvSpPr>
          <p:nvPr/>
        </p:nvSpPr>
        <p:spPr>
          <a:xfrm>
            <a:off x="4743450" y="1714500"/>
            <a:ext cx="476250" cy="476250"/>
          </a:xfrm>
          <a:prstGeom prst="ellipse">
            <a:avLst/>
          </a:prstGeom>
          <a:solidFill>
            <a:srgbClr val="0874C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alignment-2-label">
            <a:extLst>
              <a:ext uri="{FF2B5EF4-FFF2-40B4-BE49-F238E27FC236}">
                <a16:creationId xmlns:a16="http://schemas.microsoft.com/office/drawing/2014/main" id="{1048BA63-09DC-41EC-B8C8-6C84ABE480D2}"/>
              </a:ext>
            </a:extLst>
          </p:cNvPr>
          <p:cNvSpPr>
            <a:spLocks noGrp="1"/>
          </p:cNvSpPr>
          <p:nvPr/>
        </p:nvSpPr>
        <p:spPr>
          <a:xfrm>
            <a:off x="4743450" y="1714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alignment-card-2-card">
            <a:extLst>
              <a:ext uri="{FF2B5EF4-FFF2-40B4-BE49-F238E27FC236}">
                <a16:creationId xmlns:a16="http://schemas.microsoft.com/office/drawing/2014/main" id="{74459C40-6623-4219-876C-881E6EA86DB2}"/>
              </a:ext>
            </a:extLst>
          </p:cNvPr>
          <p:cNvSpPr>
            <a:spLocks noGrp="1"/>
          </p:cNvSpPr>
          <p:nvPr/>
        </p:nvSpPr>
        <p:spPr>
          <a:xfrm>
            <a:off x="3905250" y="2333625"/>
            <a:ext cx="2143125" cy="23812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4288">
            <a:solidFill>
              <a:srgbClr val="0874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alignment-card-2-accent">
            <a:extLst>
              <a:ext uri="{FF2B5EF4-FFF2-40B4-BE49-F238E27FC236}">
                <a16:creationId xmlns:a16="http://schemas.microsoft.com/office/drawing/2014/main" id="{E18E2A9D-4862-48C3-8435-0398A779AEAE}"/>
              </a:ext>
            </a:extLst>
          </p:cNvPr>
          <p:cNvSpPr>
            <a:spLocks noGrp="1"/>
          </p:cNvSpPr>
          <p:nvPr/>
        </p:nvSpPr>
        <p:spPr>
          <a:xfrm>
            <a:off x="3905250" y="2333625"/>
            <a:ext cx="76200" cy="2381250"/>
          </a:xfrm>
          <a:prstGeom prst="rect">
            <a:avLst/>
          </a:prstGeom>
          <a:solidFill>
            <a:srgbClr val="0874C9"/>
          </a:solidFill>
          <a:ln w="0">
            <a:solidFill>
              <a:srgbClr val="0874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alignment-card-2-title">
            <a:extLst>
              <a:ext uri="{FF2B5EF4-FFF2-40B4-BE49-F238E27FC236}">
                <a16:creationId xmlns:a16="http://schemas.microsoft.com/office/drawing/2014/main" id="{237350AF-0E09-4DF3-B053-267DE80CA511}"/>
              </a:ext>
            </a:extLst>
          </p:cNvPr>
          <p:cNvSpPr>
            <a:spLocks noGrp="1"/>
          </p:cNvSpPr>
          <p:nvPr/>
        </p:nvSpPr>
        <p:spPr>
          <a:xfrm>
            <a:off x="4133850" y="2447925"/>
            <a:ext cx="17430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EXPERIÊNCIAS</a:t>
            </a:r>
          </a:p>
        </p:txBody>
      </p:sp>
      <p:sp>
        <p:nvSpPr>
          <p:cNvPr id="23" name="alignment-card-2-body">
            <a:extLst>
              <a:ext uri="{FF2B5EF4-FFF2-40B4-BE49-F238E27FC236}">
                <a16:creationId xmlns:a16="http://schemas.microsoft.com/office/drawing/2014/main" id="{80B1E1C2-9BFB-4633-A820-D4C1785B1201}"/>
              </a:ext>
            </a:extLst>
          </p:cNvPr>
          <p:cNvSpPr>
            <a:spLocks noGrp="1"/>
          </p:cNvSpPr>
          <p:nvPr/>
        </p:nvSpPr>
        <p:spPr>
          <a:xfrm>
            <a:off x="4133850" y="3000375"/>
            <a:ext cx="172402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Oferecer atividades coerentes com os objetivos.</a:t>
            </a:r>
          </a:p>
        </p:txBody>
      </p:sp>
      <p:sp>
        <p:nvSpPr>
          <p:cNvPr id="24" name="alignment-arrow-2">
            <a:extLst>
              <a:ext uri="{FF2B5EF4-FFF2-40B4-BE49-F238E27FC236}">
                <a16:creationId xmlns:a16="http://schemas.microsoft.com/office/drawing/2014/main" id="{8EF69892-E20B-45FE-92EC-8B91CE329130}"/>
              </a:ext>
            </a:extLst>
          </p:cNvPr>
          <p:cNvSpPr>
            <a:spLocks noGrp="1"/>
          </p:cNvSpPr>
          <p:nvPr/>
        </p:nvSpPr>
        <p:spPr>
          <a:xfrm>
            <a:off x="6096000" y="31432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95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alignment-3-circle">
            <a:extLst>
              <a:ext uri="{FF2B5EF4-FFF2-40B4-BE49-F238E27FC236}">
                <a16:creationId xmlns:a16="http://schemas.microsoft.com/office/drawing/2014/main" id="{B9E2B727-8184-47E9-8118-C449B82A8FAC}"/>
              </a:ext>
            </a:extLst>
          </p:cNvPr>
          <p:cNvSpPr>
            <a:spLocks noGrp="1"/>
          </p:cNvSpPr>
          <p:nvPr/>
        </p:nvSpPr>
        <p:spPr>
          <a:xfrm>
            <a:off x="7362825" y="1714500"/>
            <a:ext cx="476250" cy="476250"/>
          </a:xfrm>
          <a:prstGeom prst="ellipse">
            <a:avLst/>
          </a:prstGeom>
          <a:solidFill>
            <a:srgbClr val="ED5B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alignment-3-label">
            <a:extLst>
              <a:ext uri="{FF2B5EF4-FFF2-40B4-BE49-F238E27FC236}">
                <a16:creationId xmlns:a16="http://schemas.microsoft.com/office/drawing/2014/main" id="{2A47ECBC-DC60-44E9-8D1E-DECC7FF2EF8E}"/>
              </a:ext>
            </a:extLst>
          </p:cNvPr>
          <p:cNvSpPr>
            <a:spLocks noGrp="1"/>
          </p:cNvSpPr>
          <p:nvPr/>
        </p:nvSpPr>
        <p:spPr>
          <a:xfrm>
            <a:off x="7362825" y="1714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alignment-card-3-card">
            <a:extLst>
              <a:ext uri="{FF2B5EF4-FFF2-40B4-BE49-F238E27FC236}">
                <a16:creationId xmlns:a16="http://schemas.microsoft.com/office/drawing/2014/main" id="{1291BB36-F7ED-4D70-BA39-48DEC862C883}"/>
              </a:ext>
            </a:extLst>
          </p:cNvPr>
          <p:cNvSpPr>
            <a:spLocks noGrp="1"/>
          </p:cNvSpPr>
          <p:nvPr/>
        </p:nvSpPr>
        <p:spPr>
          <a:xfrm>
            <a:off x="6524625" y="2333625"/>
            <a:ext cx="2143125" cy="23812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4288">
            <a:solidFill>
              <a:srgbClr val="ED5B1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8" name="alignment-card-3-accent">
            <a:extLst>
              <a:ext uri="{FF2B5EF4-FFF2-40B4-BE49-F238E27FC236}">
                <a16:creationId xmlns:a16="http://schemas.microsoft.com/office/drawing/2014/main" id="{E8629161-B53F-491E-A6D3-77F7B222340F}"/>
              </a:ext>
            </a:extLst>
          </p:cNvPr>
          <p:cNvSpPr>
            <a:spLocks noGrp="1"/>
          </p:cNvSpPr>
          <p:nvPr/>
        </p:nvSpPr>
        <p:spPr>
          <a:xfrm>
            <a:off x="6524625" y="2333625"/>
            <a:ext cx="76200" cy="2381250"/>
          </a:xfrm>
          <a:prstGeom prst="rect">
            <a:avLst/>
          </a:prstGeom>
          <a:solidFill>
            <a:srgbClr val="ED5B12"/>
          </a:solidFill>
          <a:ln w="0">
            <a:solidFill>
              <a:srgbClr val="ED5B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alignment-card-3-title">
            <a:extLst>
              <a:ext uri="{FF2B5EF4-FFF2-40B4-BE49-F238E27FC236}">
                <a16:creationId xmlns:a16="http://schemas.microsoft.com/office/drawing/2014/main" id="{933EB25E-9B83-4F9A-96A3-92A2590CF351}"/>
              </a:ext>
            </a:extLst>
          </p:cNvPr>
          <p:cNvSpPr>
            <a:spLocks noGrp="1"/>
          </p:cNvSpPr>
          <p:nvPr/>
        </p:nvSpPr>
        <p:spPr>
          <a:xfrm>
            <a:off x="6753225" y="2447925"/>
            <a:ext cx="17430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EVIDÊNCIAS</a:t>
            </a:r>
          </a:p>
        </p:txBody>
      </p:sp>
      <p:sp>
        <p:nvSpPr>
          <p:cNvPr id="30" name="alignment-card-3-body">
            <a:extLst>
              <a:ext uri="{FF2B5EF4-FFF2-40B4-BE49-F238E27FC236}">
                <a16:creationId xmlns:a16="http://schemas.microsoft.com/office/drawing/2014/main" id="{0E54DA49-9EC4-418E-AA01-62C9E1F47AE9}"/>
              </a:ext>
            </a:extLst>
          </p:cNvPr>
          <p:cNvSpPr>
            <a:spLocks noGrp="1"/>
          </p:cNvSpPr>
          <p:nvPr/>
        </p:nvSpPr>
        <p:spPr>
          <a:xfrm>
            <a:off x="6753225" y="3000375"/>
            <a:ext cx="172402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Propor tarefas que revelem desempenho real.</a:t>
            </a:r>
          </a:p>
        </p:txBody>
      </p:sp>
      <p:sp>
        <p:nvSpPr>
          <p:cNvPr id="31" name="alignment-arrow-3">
            <a:extLst>
              <a:ext uri="{FF2B5EF4-FFF2-40B4-BE49-F238E27FC236}">
                <a16:creationId xmlns:a16="http://schemas.microsoft.com/office/drawing/2014/main" id="{B066F867-EB1B-46C6-A36E-A3D5C20209D8}"/>
              </a:ext>
            </a:extLst>
          </p:cNvPr>
          <p:cNvSpPr>
            <a:spLocks noGrp="1"/>
          </p:cNvSpPr>
          <p:nvPr/>
        </p:nvSpPr>
        <p:spPr>
          <a:xfrm>
            <a:off x="8715375" y="31432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95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alignment-4-circle">
            <a:extLst>
              <a:ext uri="{FF2B5EF4-FFF2-40B4-BE49-F238E27FC236}">
                <a16:creationId xmlns:a16="http://schemas.microsoft.com/office/drawing/2014/main" id="{34DC1709-6F45-4BA8-ACED-493ACF6CC851}"/>
              </a:ext>
            </a:extLst>
          </p:cNvPr>
          <p:cNvSpPr>
            <a:spLocks noGrp="1"/>
          </p:cNvSpPr>
          <p:nvPr/>
        </p:nvSpPr>
        <p:spPr>
          <a:xfrm>
            <a:off x="9982200" y="1714500"/>
            <a:ext cx="476250" cy="476250"/>
          </a:xfrm>
          <a:prstGeom prst="ellipse">
            <a:avLst/>
          </a:prstGeom>
          <a:solidFill>
            <a:srgbClr val="1182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alignment-4-label">
            <a:extLst>
              <a:ext uri="{FF2B5EF4-FFF2-40B4-BE49-F238E27FC236}">
                <a16:creationId xmlns:a16="http://schemas.microsoft.com/office/drawing/2014/main" id="{4B121F7D-B6BF-4C10-92C6-E2E983B10E06}"/>
              </a:ext>
            </a:extLst>
          </p:cNvPr>
          <p:cNvSpPr>
            <a:spLocks noGrp="1"/>
          </p:cNvSpPr>
          <p:nvPr/>
        </p:nvSpPr>
        <p:spPr>
          <a:xfrm>
            <a:off x="9982200" y="1714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alignment-card-4-card">
            <a:extLst>
              <a:ext uri="{FF2B5EF4-FFF2-40B4-BE49-F238E27FC236}">
                <a16:creationId xmlns:a16="http://schemas.microsoft.com/office/drawing/2014/main" id="{F15485EF-3D20-4079-AEB9-58BC3F314BF5}"/>
              </a:ext>
            </a:extLst>
          </p:cNvPr>
          <p:cNvSpPr>
            <a:spLocks noGrp="1"/>
          </p:cNvSpPr>
          <p:nvPr/>
        </p:nvSpPr>
        <p:spPr>
          <a:xfrm>
            <a:off x="9144000" y="2333625"/>
            <a:ext cx="2143125" cy="23812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4288">
            <a:solidFill>
              <a:srgbClr val="11824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5" name="alignment-card-4-accent">
            <a:extLst>
              <a:ext uri="{FF2B5EF4-FFF2-40B4-BE49-F238E27FC236}">
                <a16:creationId xmlns:a16="http://schemas.microsoft.com/office/drawing/2014/main" id="{316B1559-3F31-4879-9D6A-22C54FCA74D6}"/>
              </a:ext>
            </a:extLst>
          </p:cNvPr>
          <p:cNvSpPr>
            <a:spLocks noGrp="1"/>
          </p:cNvSpPr>
          <p:nvPr/>
        </p:nvSpPr>
        <p:spPr>
          <a:xfrm>
            <a:off x="9144000" y="2333625"/>
            <a:ext cx="76200" cy="2381250"/>
          </a:xfrm>
          <a:prstGeom prst="rect">
            <a:avLst/>
          </a:prstGeom>
          <a:solidFill>
            <a:srgbClr val="11824B"/>
          </a:solidFill>
          <a:ln w="0">
            <a:solidFill>
              <a:srgbClr val="118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alignment-card-4-title">
            <a:extLst>
              <a:ext uri="{FF2B5EF4-FFF2-40B4-BE49-F238E27FC236}">
                <a16:creationId xmlns:a16="http://schemas.microsoft.com/office/drawing/2014/main" id="{3A306029-04D6-4872-B93B-2181D3F1A86C}"/>
              </a:ext>
            </a:extLst>
          </p:cNvPr>
          <p:cNvSpPr>
            <a:spLocks noGrp="1"/>
          </p:cNvSpPr>
          <p:nvPr/>
        </p:nvSpPr>
        <p:spPr>
          <a:xfrm>
            <a:off x="9372600" y="2447925"/>
            <a:ext cx="17430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COMPETÊNCIAS</a:t>
            </a:r>
          </a:p>
        </p:txBody>
      </p:sp>
      <p:sp>
        <p:nvSpPr>
          <p:cNvPr id="37" name="alignment-card-4-body">
            <a:extLst>
              <a:ext uri="{FF2B5EF4-FFF2-40B4-BE49-F238E27FC236}">
                <a16:creationId xmlns:a16="http://schemas.microsoft.com/office/drawing/2014/main" id="{F519ABD7-293D-49A0-92A3-DCFFB304A8F6}"/>
              </a:ext>
            </a:extLst>
          </p:cNvPr>
          <p:cNvSpPr>
            <a:spLocks noGrp="1"/>
          </p:cNvSpPr>
          <p:nvPr/>
        </p:nvSpPr>
        <p:spPr>
          <a:xfrm>
            <a:off x="9372600" y="3000375"/>
            <a:ext cx="172402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Verificar a mobilização do que foi aprendido.</a:t>
            </a:r>
          </a:p>
        </p:txBody>
      </p:sp>
      <p:sp>
        <p:nvSpPr>
          <p:cNvPr id="38" name="alignment-key-band">
            <a:extLst>
              <a:ext uri="{FF2B5EF4-FFF2-40B4-BE49-F238E27FC236}">
                <a16:creationId xmlns:a16="http://schemas.microsoft.com/office/drawing/2014/main" id="{4A2F924B-B503-46DC-8F30-002A1CE82FBC}"/>
              </a:ext>
            </a:extLst>
          </p:cNvPr>
          <p:cNvSpPr>
            <a:spLocks noGrp="1"/>
          </p:cNvSpPr>
          <p:nvPr/>
        </p:nvSpPr>
        <p:spPr>
          <a:xfrm>
            <a:off x="1762125" y="5143500"/>
            <a:ext cx="8477250" cy="438150"/>
          </a:xfrm>
          <a:prstGeom prst="roundRect">
            <a:avLst>
              <a:gd name="adj" fmla="val 26087"/>
            </a:avLst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9" name="alignment-key-text">
            <a:extLst>
              <a:ext uri="{FF2B5EF4-FFF2-40B4-BE49-F238E27FC236}">
                <a16:creationId xmlns:a16="http://schemas.microsoft.com/office/drawing/2014/main" id="{92A8A2A0-6B67-46E6-903A-6FF991C25F1D}"/>
              </a:ext>
            </a:extLst>
          </p:cNvPr>
          <p:cNvSpPr>
            <a:spLocks noGrp="1"/>
          </p:cNvSpPr>
          <p:nvPr/>
        </p:nvSpPr>
        <p:spPr>
          <a:xfrm>
            <a:off x="1933575" y="5181600"/>
            <a:ext cx="813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 material e a avaliação devem criar meios para desenvolver e demonstrar competências.</a:t>
            </a:r>
          </a:p>
        </p:txBody>
      </p:sp>
    </p:spTree>
    <p:extLst>
      <p:ext uri="{BB962C8B-B14F-4D97-AF65-F5344CB8AC3E}">
        <p14:creationId xmlns:p14="http://schemas.microsoft.com/office/powerpoint/2010/main" val="35302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Imagem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8">
            <a:extLst>
              <a:ext uri="{FF2B5EF4-FFF2-40B4-BE49-F238E27FC236}">
                <a16:creationId xmlns:a16="http://schemas.microsoft.com/office/drawing/2014/main" id="{013E1081-ADC0-4350-878F-05C0AA2B3DE2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ENGENHARIA DE PROMPTS</a:t>
            </a:r>
          </a:p>
        </p:txBody>
      </p:sp>
      <p:sp>
        <p:nvSpPr>
          <p:cNvPr id="4" name="footer-8">
            <a:extLst>
              <a:ext uri="{FF2B5EF4-FFF2-40B4-BE49-F238E27FC236}">
                <a16:creationId xmlns:a16="http://schemas.microsoft.com/office/drawing/2014/main" id="{D9EFC29A-4DB9-4C63-93BD-68D624BDCEEF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8">
            <a:extLst>
              <a:ext uri="{FF2B5EF4-FFF2-40B4-BE49-F238E27FC236}">
                <a16:creationId xmlns:a16="http://schemas.microsoft.com/office/drawing/2014/main" id="{18CDCC1E-2C72-45C7-9128-901973B95914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8">
            <a:extLst>
              <a:ext uri="{FF2B5EF4-FFF2-40B4-BE49-F238E27FC236}">
                <a16:creationId xmlns:a16="http://schemas.microsoft.com/office/drawing/2014/main" id="{D87A90B5-D70D-4ED6-86D4-9666D479F1D2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009233EA-0EE7-43A5-880B-FB6A4DA960F4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ENGENHARIA DE PROMPTS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33332C8B-D57B-4E6C-9BE5-7683DC7A86EE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D4422640-5947-4ACC-92CA-784F36F42928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BACDFF7C-E010-44E9-8059-6B39C8DC4975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Precisão e estratégia na comunicação com IA</a:t>
            </a:r>
          </a:p>
        </p:txBody>
      </p:sp>
      <p:sp>
        <p:nvSpPr>
          <p:cNvPr id="11" name="prompt-intro">
            <a:extLst>
              <a:ext uri="{FF2B5EF4-FFF2-40B4-BE49-F238E27FC236}">
                <a16:creationId xmlns:a16="http://schemas.microsoft.com/office/drawing/2014/main" id="{224D463E-7665-4DEB-A533-94E5C1D5C5EE}"/>
              </a:ext>
            </a:extLst>
          </p:cNvPr>
          <p:cNvSpPr>
            <a:spLocks noGrp="1"/>
          </p:cNvSpPr>
          <p:nvPr/>
        </p:nvSpPr>
        <p:spPr>
          <a:xfrm>
            <a:off x="1619250" y="15049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3B72"/>
                </a:solidFill>
                <a:latin typeface="Arial"/>
                <a:ea typeface="Arial"/>
                <a:cs typeface="Arial"/>
              </a:rPr>
              <a:t>Comunicação precisa com modelos de IA para obter resultados de qualidade na produção acadêmica.</a:t>
            </a:r>
          </a:p>
        </p:txBody>
      </p:sp>
      <p:sp>
        <p:nvSpPr>
          <p:cNvPr id="12" name="benefit-icon-1-circle">
            <a:extLst>
              <a:ext uri="{FF2B5EF4-FFF2-40B4-BE49-F238E27FC236}">
                <a16:creationId xmlns:a16="http://schemas.microsoft.com/office/drawing/2014/main" id="{7AB48B43-CD10-4756-AC12-3DE082A24A16}"/>
              </a:ext>
            </a:extLst>
          </p:cNvPr>
          <p:cNvSpPr>
            <a:spLocks noGrp="1"/>
          </p:cNvSpPr>
          <p:nvPr/>
        </p:nvSpPr>
        <p:spPr>
          <a:xfrm>
            <a:off x="2124075" y="2238375"/>
            <a:ext cx="514350" cy="514350"/>
          </a:xfrm>
          <a:prstGeom prst="ellipse">
            <a:avLst/>
          </a:prstGeom>
          <a:solidFill>
            <a:srgbClr val="1182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benefit-icon-1-label">
            <a:extLst>
              <a:ext uri="{FF2B5EF4-FFF2-40B4-BE49-F238E27FC236}">
                <a16:creationId xmlns:a16="http://schemas.microsoft.com/office/drawing/2014/main" id="{FCF79429-6D64-4CE4-B364-9CF11EC901A3}"/>
              </a:ext>
            </a:extLst>
          </p:cNvPr>
          <p:cNvSpPr>
            <a:spLocks noGrp="1"/>
          </p:cNvSpPr>
          <p:nvPr/>
        </p:nvSpPr>
        <p:spPr>
          <a:xfrm>
            <a:off x="2124075" y="223837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4" name="benefit-1-card">
            <a:extLst>
              <a:ext uri="{FF2B5EF4-FFF2-40B4-BE49-F238E27FC236}">
                <a16:creationId xmlns:a16="http://schemas.microsoft.com/office/drawing/2014/main" id="{547947C1-0F80-4215-89AF-0BE21E9C936E}"/>
              </a:ext>
            </a:extLst>
          </p:cNvPr>
          <p:cNvSpPr>
            <a:spLocks noGrp="1"/>
          </p:cNvSpPr>
          <p:nvPr/>
        </p:nvSpPr>
        <p:spPr>
          <a:xfrm>
            <a:off x="1285875" y="2905125"/>
            <a:ext cx="2143125" cy="2190750"/>
          </a:xfrm>
          <a:prstGeom prst="roundRect">
            <a:avLst>
              <a:gd name="adj" fmla="val 5333"/>
            </a:avLst>
          </a:prstGeom>
          <a:solidFill>
            <a:srgbClr val="E7F5ED"/>
          </a:solidFill>
          <a:ln w="14288">
            <a:solidFill>
              <a:srgbClr val="11824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5" name="benefit-1-accent">
            <a:extLst>
              <a:ext uri="{FF2B5EF4-FFF2-40B4-BE49-F238E27FC236}">
                <a16:creationId xmlns:a16="http://schemas.microsoft.com/office/drawing/2014/main" id="{ACAA8520-744C-4854-ADF8-E7849E61DF79}"/>
              </a:ext>
            </a:extLst>
          </p:cNvPr>
          <p:cNvSpPr>
            <a:spLocks noGrp="1"/>
          </p:cNvSpPr>
          <p:nvPr/>
        </p:nvSpPr>
        <p:spPr>
          <a:xfrm>
            <a:off x="1285875" y="2905125"/>
            <a:ext cx="76200" cy="2190750"/>
          </a:xfrm>
          <a:prstGeom prst="rect">
            <a:avLst/>
          </a:prstGeom>
          <a:solidFill>
            <a:srgbClr val="11824B"/>
          </a:solidFill>
          <a:ln w="0">
            <a:solidFill>
              <a:srgbClr val="118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benefit-1-title">
            <a:extLst>
              <a:ext uri="{FF2B5EF4-FFF2-40B4-BE49-F238E27FC236}">
                <a16:creationId xmlns:a16="http://schemas.microsoft.com/office/drawing/2014/main" id="{102A0CAF-1365-47C8-A290-71AF87D4FD79}"/>
              </a:ext>
            </a:extLst>
          </p:cNvPr>
          <p:cNvSpPr>
            <a:spLocks noGrp="1"/>
          </p:cNvSpPr>
          <p:nvPr/>
        </p:nvSpPr>
        <p:spPr>
          <a:xfrm>
            <a:off x="1514475" y="3019425"/>
            <a:ext cx="17430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ECONOMIZE</a:t>
            </a:r>
          </a:p>
        </p:txBody>
      </p:sp>
      <p:sp>
        <p:nvSpPr>
          <p:cNvPr id="17" name="benefit-1-body">
            <a:extLst>
              <a:ext uri="{FF2B5EF4-FFF2-40B4-BE49-F238E27FC236}">
                <a16:creationId xmlns:a16="http://schemas.microsoft.com/office/drawing/2014/main" id="{454E66CA-BC92-4498-A80D-F8A512418B1F}"/>
              </a:ext>
            </a:extLst>
          </p:cNvPr>
          <p:cNvSpPr>
            <a:spLocks noGrp="1"/>
          </p:cNvSpPr>
          <p:nvPr/>
        </p:nvSpPr>
        <p:spPr>
          <a:xfrm>
            <a:off x="1514475" y="3571875"/>
            <a:ext cx="1724025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Reduza o tempo de elaboração e amplie a revisão pedagógica.</a:t>
            </a:r>
          </a:p>
        </p:txBody>
      </p:sp>
      <p:sp>
        <p:nvSpPr>
          <p:cNvPr id="18" name="benefit-icon-2-circle">
            <a:extLst>
              <a:ext uri="{FF2B5EF4-FFF2-40B4-BE49-F238E27FC236}">
                <a16:creationId xmlns:a16="http://schemas.microsoft.com/office/drawing/2014/main" id="{3D0652FA-382A-4817-B049-5FD40A801EE7}"/>
              </a:ext>
            </a:extLst>
          </p:cNvPr>
          <p:cNvSpPr>
            <a:spLocks noGrp="1"/>
          </p:cNvSpPr>
          <p:nvPr/>
        </p:nvSpPr>
        <p:spPr>
          <a:xfrm>
            <a:off x="4695825" y="2238375"/>
            <a:ext cx="514350" cy="5143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benefit-icon-2-label">
            <a:extLst>
              <a:ext uri="{FF2B5EF4-FFF2-40B4-BE49-F238E27FC236}">
                <a16:creationId xmlns:a16="http://schemas.microsoft.com/office/drawing/2014/main" id="{9325C7C9-3ADE-4A36-88C5-BA720C322AB2}"/>
              </a:ext>
            </a:extLst>
          </p:cNvPr>
          <p:cNvSpPr>
            <a:spLocks noGrp="1"/>
          </p:cNvSpPr>
          <p:nvPr/>
        </p:nvSpPr>
        <p:spPr>
          <a:xfrm>
            <a:off x="4695825" y="223837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0" name="benefit-2-card">
            <a:extLst>
              <a:ext uri="{FF2B5EF4-FFF2-40B4-BE49-F238E27FC236}">
                <a16:creationId xmlns:a16="http://schemas.microsoft.com/office/drawing/2014/main" id="{D60FB17F-34C3-4166-B0DE-9DCF5082F757}"/>
              </a:ext>
            </a:extLst>
          </p:cNvPr>
          <p:cNvSpPr>
            <a:spLocks noGrp="1"/>
          </p:cNvSpPr>
          <p:nvPr/>
        </p:nvSpPr>
        <p:spPr>
          <a:xfrm>
            <a:off x="3857625" y="2905125"/>
            <a:ext cx="2143125" cy="2190750"/>
          </a:xfrm>
          <a:prstGeom prst="roundRect">
            <a:avLst>
              <a:gd name="adj" fmla="val 5333"/>
            </a:avLst>
          </a:prstGeom>
          <a:solidFill>
            <a:srgbClr val="E8F3FB"/>
          </a:solidFill>
          <a:ln w="14288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benefit-2-accent">
            <a:extLst>
              <a:ext uri="{FF2B5EF4-FFF2-40B4-BE49-F238E27FC236}">
                <a16:creationId xmlns:a16="http://schemas.microsoft.com/office/drawing/2014/main" id="{A0D4E6C4-50BE-43D5-8E90-D8C417E4B9D7}"/>
              </a:ext>
            </a:extLst>
          </p:cNvPr>
          <p:cNvSpPr>
            <a:spLocks noGrp="1"/>
          </p:cNvSpPr>
          <p:nvPr/>
        </p:nvSpPr>
        <p:spPr>
          <a:xfrm>
            <a:off x="3857625" y="2905125"/>
            <a:ext cx="76200" cy="2190750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benefit-2-title">
            <a:extLst>
              <a:ext uri="{FF2B5EF4-FFF2-40B4-BE49-F238E27FC236}">
                <a16:creationId xmlns:a16="http://schemas.microsoft.com/office/drawing/2014/main" id="{1B68F0FC-DFDE-4CC9-8E54-50AED46ADBAA}"/>
              </a:ext>
            </a:extLst>
          </p:cNvPr>
          <p:cNvSpPr>
            <a:spLocks noGrp="1"/>
          </p:cNvSpPr>
          <p:nvPr/>
        </p:nvSpPr>
        <p:spPr>
          <a:xfrm>
            <a:off x="4086225" y="3019425"/>
            <a:ext cx="17430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PADRONIZE</a:t>
            </a:r>
          </a:p>
        </p:txBody>
      </p:sp>
      <p:sp>
        <p:nvSpPr>
          <p:cNvPr id="23" name="benefit-2-body">
            <a:extLst>
              <a:ext uri="{FF2B5EF4-FFF2-40B4-BE49-F238E27FC236}">
                <a16:creationId xmlns:a16="http://schemas.microsoft.com/office/drawing/2014/main" id="{7776F668-BC47-4427-840F-9C4562A6875D}"/>
              </a:ext>
            </a:extLst>
          </p:cNvPr>
          <p:cNvSpPr>
            <a:spLocks noGrp="1"/>
          </p:cNvSpPr>
          <p:nvPr/>
        </p:nvSpPr>
        <p:spPr>
          <a:xfrm>
            <a:off x="4086225" y="3571875"/>
            <a:ext cx="1724025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Alinhe questões ao nível cognitivo e ao padrão ENADE.</a:t>
            </a:r>
          </a:p>
        </p:txBody>
      </p:sp>
      <p:sp>
        <p:nvSpPr>
          <p:cNvPr id="24" name="benefit-icon-3-circle">
            <a:extLst>
              <a:ext uri="{FF2B5EF4-FFF2-40B4-BE49-F238E27FC236}">
                <a16:creationId xmlns:a16="http://schemas.microsoft.com/office/drawing/2014/main" id="{902B7FFA-329A-4220-AB2B-3B4106ECC4AA}"/>
              </a:ext>
            </a:extLst>
          </p:cNvPr>
          <p:cNvSpPr>
            <a:spLocks noGrp="1"/>
          </p:cNvSpPr>
          <p:nvPr/>
        </p:nvSpPr>
        <p:spPr>
          <a:xfrm>
            <a:off x="7267575" y="2238375"/>
            <a:ext cx="514350" cy="514350"/>
          </a:xfrm>
          <a:prstGeom prst="ellipse">
            <a:avLst/>
          </a:prstGeom>
          <a:solidFill>
            <a:srgbClr val="ED5B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benefit-icon-3-label">
            <a:extLst>
              <a:ext uri="{FF2B5EF4-FFF2-40B4-BE49-F238E27FC236}">
                <a16:creationId xmlns:a16="http://schemas.microsoft.com/office/drawing/2014/main" id="{864460DC-C530-468E-889D-B06F5E60B9CF}"/>
              </a:ext>
            </a:extLst>
          </p:cNvPr>
          <p:cNvSpPr>
            <a:spLocks noGrp="1"/>
          </p:cNvSpPr>
          <p:nvPr/>
        </p:nvSpPr>
        <p:spPr>
          <a:xfrm>
            <a:off x="7267575" y="223837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6" name="benefit-3-card">
            <a:extLst>
              <a:ext uri="{FF2B5EF4-FFF2-40B4-BE49-F238E27FC236}">
                <a16:creationId xmlns:a16="http://schemas.microsoft.com/office/drawing/2014/main" id="{37EF7C08-6B5B-4BC6-9D4C-5406201DF799}"/>
              </a:ext>
            </a:extLst>
          </p:cNvPr>
          <p:cNvSpPr>
            <a:spLocks noGrp="1"/>
          </p:cNvSpPr>
          <p:nvPr/>
        </p:nvSpPr>
        <p:spPr>
          <a:xfrm>
            <a:off x="6429375" y="2905125"/>
            <a:ext cx="2143125" cy="2190750"/>
          </a:xfrm>
          <a:prstGeom prst="roundRect">
            <a:avLst>
              <a:gd name="adj" fmla="val 5333"/>
            </a:avLst>
          </a:prstGeom>
          <a:solidFill>
            <a:srgbClr val="FFF0E7"/>
          </a:solidFill>
          <a:ln w="14288">
            <a:solidFill>
              <a:srgbClr val="ED5B1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7" name="benefit-3-accent">
            <a:extLst>
              <a:ext uri="{FF2B5EF4-FFF2-40B4-BE49-F238E27FC236}">
                <a16:creationId xmlns:a16="http://schemas.microsoft.com/office/drawing/2014/main" id="{280C8B8C-E182-410F-BC56-50673257D628}"/>
              </a:ext>
            </a:extLst>
          </p:cNvPr>
          <p:cNvSpPr>
            <a:spLocks noGrp="1"/>
          </p:cNvSpPr>
          <p:nvPr/>
        </p:nvSpPr>
        <p:spPr>
          <a:xfrm>
            <a:off x="6429375" y="2905125"/>
            <a:ext cx="76200" cy="2190750"/>
          </a:xfrm>
          <a:prstGeom prst="rect">
            <a:avLst/>
          </a:prstGeom>
          <a:solidFill>
            <a:srgbClr val="ED5B12"/>
          </a:solidFill>
          <a:ln w="0">
            <a:solidFill>
              <a:srgbClr val="ED5B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benefit-3-title">
            <a:extLst>
              <a:ext uri="{FF2B5EF4-FFF2-40B4-BE49-F238E27FC236}">
                <a16:creationId xmlns:a16="http://schemas.microsoft.com/office/drawing/2014/main" id="{B14E1826-08D1-442B-97D0-C72BFF83CA0E}"/>
              </a:ext>
            </a:extLst>
          </p:cNvPr>
          <p:cNvSpPr>
            <a:spLocks noGrp="1"/>
          </p:cNvSpPr>
          <p:nvPr/>
        </p:nvSpPr>
        <p:spPr>
          <a:xfrm>
            <a:off x="6657975" y="3019425"/>
            <a:ext cx="17430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INOVE</a:t>
            </a:r>
          </a:p>
        </p:txBody>
      </p:sp>
      <p:sp>
        <p:nvSpPr>
          <p:cNvPr id="29" name="benefit-3-body">
            <a:extLst>
              <a:ext uri="{FF2B5EF4-FFF2-40B4-BE49-F238E27FC236}">
                <a16:creationId xmlns:a16="http://schemas.microsoft.com/office/drawing/2014/main" id="{AA162E61-E2FE-4C12-A522-63259802D774}"/>
              </a:ext>
            </a:extLst>
          </p:cNvPr>
          <p:cNvSpPr>
            <a:spLocks noGrp="1"/>
          </p:cNvSpPr>
          <p:nvPr/>
        </p:nvSpPr>
        <p:spPr>
          <a:xfrm>
            <a:off x="6657975" y="3571875"/>
            <a:ext cx="1724025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Contextualize com situações reais, dados e casos profissionais.</a:t>
            </a:r>
          </a:p>
        </p:txBody>
      </p:sp>
      <p:sp>
        <p:nvSpPr>
          <p:cNvPr id="30" name="benefit-icon-4-circle">
            <a:extLst>
              <a:ext uri="{FF2B5EF4-FFF2-40B4-BE49-F238E27FC236}">
                <a16:creationId xmlns:a16="http://schemas.microsoft.com/office/drawing/2014/main" id="{61F91FA1-2EB7-4354-A139-3D8A164362C0}"/>
              </a:ext>
            </a:extLst>
          </p:cNvPr>
          <p:cNvSpPr>
            <a:spLocks noGrp="1"/>
          </p:cNvSpPr>
          <p:nvPr/>
        </p:nvSpPr>
        <p:spPr>
          <a:xfrm>
            <a:off x="9839325" y="2238375"/>
            <a:ext cx="514350" cy="514350"/>
          </a:xfrm>
          <a:prstGeom prst="ellipse">
            <a:avLst/>
          </a:prstGeom>
          <a:solidFill>
            <a:srgbClr val="7015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benefit-icon-4-label">
            <a:extLst>
              <a:ext uri="{FF2B5EF4-FFF2-40B4-BE49-F238E27FC236}">
                <a16:creationId xmlns:a16="http://schemas.microsoft.com/office/drawing/2014/main" id="{A04E3E18-D262-41FB-B185-70D2D37FBB00}"/>
              </a:ext>
            </a:extLst>
          </p:cNvPr>
          <p:cNvSpPr>
            <a:spLocks noGrp="1"/>
          </p:cNvSpPr>
          <p:nvPr/>
        </p:nvSpPr>
        <p:spPr>
          <a:xfrm>
            <a:off x="9839325" y="223837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2" name="benefit-4-card">
            <a:extLst>
              <a:ext uri="{FF2B5EF4-FFF2-40B4-BE49-F238E27FC236}">
                <a16:creationId xmlns:a16="http://schemas.microsoft.com/office/drawing/2014/main" id="{3454D63D-9DB3-45FD-B61E-C9556DE03D8C}"/>
              </a:ext>
            </a:extLst>
          </p:cNvPr>
          <p:cNvSpPr>
            <a:spLocks noGrp="1"/>
          </p:cNvSpPr>
          <p:nvPr/>
        </p:nvSpPr>
        <p:spPr>
          <a:xfrm>
            <a:off x="9001125" y="2905125"/>
            <a:ext cx="2143125" cy="2190750"/>
          </a:xfrm>
          <a:prstGeom prst="roundRect">
            <a:avLst>
              <a:gd name="adj" fmla="val 5333"/>
            </a:avLst>
          </a:prstGeom>
          <a:solidFill>
            <a:srgbClr val="F2E8FB"/>
          </a:solidFill>
          <a:ln w="14288">
            <a:solidFill>
              <a:srgbClr val="7015B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3" name="benefit-4-accent">
            <a:extLst>
              <a:ext uri="{FF2B5EF4-FFF2-40B4-BE49-F238E27FC236}">
                <a16:creationId xmlns:a16="http://schemas.microsoft.com/office/drawing/2014/main" id="{329CA150-2FBE-47E9-8E1F-8996FF860ACD}"/>
              </a:ext>
            </a:extLst>
          </p:cNvPr>
          <p:cNvSpPr>
            <a:spLocks noGrp="1"/>
          </p:cNvSpPr>
          <p:nvPr/>
        </p:nvSpPr>
        <p:spPr>
          <a:xfrm>
            <a:off x="9001125" y="2905125"/>
            <a:ext cx="76200" cy="2190750"/>
          </a:xfrm>
          <a:prstGeom prst="rect">
            <a:avLst/>
          </a:prstGeom>
          <a:solidFill>
            <a:srgbClr val="7015B8"/>
          </a:solidFill>
          <a:ln w="0">
            <a:solidFill>
              <a:srgbClr val="7015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benefit-4-title">
            <a:extLst>
              <a:ext uri="{FF2B5EF4-FFF2-40B4-BE49-F238E27FC236}">
                <a16:creationId xmlns:a16="http://schemas.microsoft.com/office/drawing/2014/main" id="{E17831AC-CFDE-4CF0-A221-6DFA94909E74}"/>
              </a:ext>
            </a:extLst>
          </p:cNvPr>
          <p:cNvSpPr>
            <a:spLocks noGrp="1"/>
          </p:cNvSpPr>
          <p:nvPr/>
        </p:nvSpPr>
        <p:spPr>
          <a:xfrm>
            <a:off x="9229725" y="3019425"/>
            <a:ext cx="17430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CONECTE</a:t>
            </a:r>
          </a:p>
        </p:txBody>
      </p:sp>
      <p:sp>
        <p:nvSpPr>
          <p:cNvPr id="35" name="benefit-4-body">
            <a:extLst>
              <a:ext uri="{FF2B5EF4-FFF2-40B4-BE49-F238E27FC236}">
                <a16:creationId xmlns:a16="http://schemas.microsoft.com/office/drawing/2014/main" id="{40D4C971-E7B5-4C26-8B58-216463EAEF04}"/>
              </a:ext>
            </a:extLst>
          </p:cNvPr>
          <p:cNvSpPr>
            <a:spLocks noGrp="1"/>
          </p:cNvSpPr>
          <p:nvPr/>
        </p:nvSpPr>
        <p:spPr>
          <a:xfrm>
            <a:off x="9229725" y="3571875"/>
            <a:ext cx="1724025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ctr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Integre áreas e disciplinas.</a:t>
            </a:r>
          </a:p>
        </p:txBody>
      </p:sp>
      <p:sp>
        <p:nvSpPr>
          <p:cNvPr id="36" name="ai-warning-band">
            <a:extLst>
              <a:ext uri="{FF2B5EF4-FFF2-40B4-BE49-F238E27FC236}">
                <a16:creationId xmlns:a16="http://schemas.microsoft.com/office/drawing/2014/main" id="{FD93A547-E93D-423B-A0BE-B224F5F7883C}"/>
              </a:ext>
            </a:extLst>
          </p:cNvPr>
          <p:cNvSpPr>
            <a:spLocks noGrp="1"/>
          </p:cNvSpPr>
          <p:nvPr/>
        </p:nvSpPr>
        <p:spPr>
          <a:xfrm>
            <a:off x="1809750" y="5381625"/>
            <a:ext cx="8382000" cy="438150"/>
          </a:xfrm>
          <a:prstGeom prst="roundRect">
            <a:avLst>
              <a:gd name="adj" fmla="val 26087"/>
            </a:avLst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7" name="ai-warning-text">
            <a:extLst>
              <a:ext uri="{FF2B5EF4-FFF2-40B4-BE49-F238E27FC236}">
                <a16:creationId xmlns:a16="http://schemas.microsoft.com/office/drawing/2014/main" id="{E6B22981-2A88-48A7-9B50-04C339E2D532}"/>
              </a:ext>
            </a:extLst>
          </p:cNvPr>
          <p:cNvSpPr>
            <a:spLocks noGrp="1"/>
          </p:cNvSpPr>
          <p:nvPr/>
        </p:nvSpPr>
        <p:spPr>
          <a:xfrm>
            <a:off x="1981200" y="5419725"/>
            <a:ext cx="803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IMPORTANTE: a IA é uma ferramenta poderosa, não um oráculo. Revise, contextualize e valide.</a:t>
            </a:r>
          </a:p>
        </p:txBody>
      </p:sp>
    </p:spTree>
    <p:extLst>
      <p:ext uri="{BB962C8B-B14F-4D97-AF65-F5344CB8AC3E}">
        <p14:creationId xmlns:p14="http://schemas.microsoft.com/office/powerpoint/2010/main" val="24220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9">
            <a:extLst>
              <a:ext uri="{FF2B5EF4-FFF2-40B4-BE49-F238E27FC236}">
                <a16:creationId xmlns:a16="http://schemas.microsoft.com/office/drawing/2014/main" id="{42302D2C-B485-49A2-813B-0C8BD3B42606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FERRAMENTAS DE IA</a:t>
            </a:r>
          </a:p>
        </p:txBody>
      </p:sp>
      <p:sp>
        <p:nvSpPr>
          <p:cNvPr id="4" name="footer-9">
            <a:extLst>
              <a:ext uri="{FF2B5EF4-FFF2-40B4-BE49-F238E27FC236}">
                <a16:creationId xmlns:a16="http://schemas.microsoft.com/office/drawing/2014/main" id="{B4D7E180-0C5A-4827-8A88-B80711431ED8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9">
            <a:extLst>
              <a:ext uri="{FF2B5EF4-FFF2-40B4-BE49-F238E27FC236}">
                <a16:creationId xmlns:a16="http://schemas.microsoft.com/office/drawing/2014/main" id="{CFCE7F2D-F88F-4F53-8D71-C74C0011188C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9">
            <a:extLst>
              <a:ext uri="{FF2B5EF4-FFF2-40B4-BE49-F238E27FC236}">
                <a16:creationId xmlns:a16="http://schemas.microsoft.com/office/drawing/2014/main" id="{384D25FB-70A1-40A4-8495-16009345F4FE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F8433B43-9A0D-420D-B37C-5BD047BA4996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CHATGPT, GEMINI OU CLAUDE: QUAL USAR?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7DB4C816-F8EB-4226-A32E-7438C261799C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F9C09B43-A257-46D6-8BAD-7341EB0172E9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ool-1-icon-circle">
            <a:extLst>
              <a:ext uri="{FF2B5EF4-FFF2-40B4-BE49-F238E27FC236}">
                <a16:creationId xmlns:a16="http://schemas.microsoft.com/office/drawing/2014/main" id="{B906EE52-3D2E-40DD-BE62-F6AEEBA0D99E}"/>
              </a:ext>
            </a:extLst>
          </p:cNvPr>
          <p:cNvSpPr>
            <a:spLocks noGrp="1"/>
          </p:cNvSpPr>
          <p:nvPr/>
        </p:nvSpPr>
        <p:spPr>
          <a:xfrm>
            <a:off x="2476500" y="1619250"/>
            <a:ext cx="514350" cy="514350"/>
          </a:xfrm>
          <a:prstGeom prst="ellipse">
            <a:avLst/>
          </a:prstGeom>
          <a:solidFill>
            <a:srgbClr val="1182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ool-1-icon-label">
            <a:extLst>
              <a:ext uri="{FF2B5EF4-FFF2-40B4-BE49-F238E27FC236}">
                <a16:creationId xmlns:a16="http://schemas.microsoft.com/office/drawing/2014/main" id="{E7F6873D-474A-4C14-906F-EE371D9202B3}"/>
              </a:ext>
            </a:extLst>
          </p:cNvPr>
          <p:cNvSpPr>
            <a:spLocks noGrp="1"/>
          </p:cNvSpPr>
          <p:nvPr/>
        </p:nvSpPr>
        <p:spPr>
          <a:xfrm>
            <a:off x="2476500" y="1619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tool-1-card">
            <a:extLst>
              <a:ext uri="{FF2B5EF4-FFF2-40B4-BE49-F238E27FC236}">
                <a16:creationId xmlns:a16="http://schemas.microsoft.com/office/drawing/2014/main" id="{EBE05006-C6EA-4886-922D-596D8F9D5733}"/>
              </a:ext>
            </a:extLst>
          </p:cNvPr>
          <p:cNvSpPr>
            <a:spLocks noGrp="1"/>
          </p:cNvSpPr>
          <p:nvPr/>
        </p:nvSpPr>
        <p:spPr>
          <a:xfrm>
            <a:off x="1285875" y="2238375"/>
            <a:ext cx="2952750" cy="3143250"/>
          </a:xfrm>
          <a:prstGeom prst="roundRect">
            <a:avLst>
              <a:gd name="adj" fmla="val 3871"/>
            </a:avLst>
          </a:prstGeom>
          <a:solidFill>
            <a:srgbClr val="E7F5ED"/>
          </a:solidFill>
          <a:ln w="14288">
            <a:solidFill>
              <a:srgbClr val="11824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3" name="tool-1-accent">
            <a:extLst>
              <a:ext uri="{FF2B5EF4-FFF2-40B4-BE49-F238E27FC236}">
                <a16:creationId xmlns:a16="http://schemas.microsoft.com/office/drawing/2014/main" id="{5F69985E-A072-443F-9057-6DD4106A60EF}"/>
              </a:ext>
            </a:extLst>
          </p:cNvPr>
          <p:cNvSpPr>
            <a:spLocks noGrp="1"/>
          </p:cNvSpPr>
          <p:nvPr/>
        </p:nvSpPr>
        <p:spPr>
          <a:xfrm>
            <a:off x="1285875" y="2238375"/>
            <a:ext cx="76200" cy="3143250"/>
          </a:xfrm>
          <a:prstGeom prst="rect">
            <a:avLst/>
          </a:prstGeom>
          <a:solidFill>
            <a:srgbClr val="11824B"/>
          </a:solidFill>
          <a:ln w="0">
            <a:solidFill>
              <a:srgbClr val="118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ool-1-title">
            <a:extLst>
              <a:ext uri="{FF2B5EF4-FFF2-40B4-BE49-F238E27FC236}">
                <a16:creationId xmlns:a16="http://schemas.microsoft.com/office/drawing/2014/main" id="{C285C955-7228-464E-8CC5-50F2B610A5EB}"/>
              </a:ext>
            </a:extLst>
          </p:cNvPr>
          <p:cNvSpPr>
            <a:spLocks noGrp="1"/>
          </p:cNvSpPr>
          <p:nvPr/>
        </p:nvSpPr>
        <p:spPr>
          <a:xfrm>
            <a:off x="1514475" y="2352675"/>
            <a:ext cx="255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CHATGPT</a:t>
            </a:r>
          </a:p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Geração e ideação</a:t>
            </a:r>
          </a:p>
        </p:txBody>
      </p:sp>
      <p:sp>
        <p:nvSpPr>
          <p:cNvPr id="15" name="tool-1-body">
            <a:extLst>
              <a:ext uri="{FF2B5EF4-FFF2-40B4-BE49-F238E27FC236}">
                <a16:creationId xmlns:a16="http://schemas.microsoft.com/office/drawing/2014/main" id="{20D738AF-868E-4695-842E-EAD87C379CDE}"/>
              </a:ext>
            </a:extLst>
          </p:cNvPr>
          <p:cNvSpPr>
            <a:spLocks noGrp="1"/>
          </p:cNvSpPr>
          <p:nvPr/>
        </p:nvSpPr>
        <p:spPr>
          <a:xfrm>
            <a:off x="1514475" y="2981325"/>
            <a:ext cx="253365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Rascunhos e variações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Ideação de enunciados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USO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Crie a primeira versão do prompt.</a:t>
            </a:r>
          </a:p>
        </p:txBody>
      </p:sp>
      <p:sp>
        <p:nvSpPr>
          <p:cNvPr id="16" name="tool-2-icon-circle">
            <a:extLst>
              <a:ext uri="{FF2B5EF4-FFF2-40B4-BE49-F238E27FC236}">
                <a16:creationId xmlns:a16="http://schemas.microsoft.com/office/drawing/2014/main" id="{42F6315A-BC71-42D6-8AFC-C1E43B22FE9F}"/>
              </a:ext>
            </a:extLst>
          </p:cNvPr>
          <p:cNvSpPr>
            <a:spLocks noGrp="1"/>
          </p:cNvSpPr>
          <p:nvPr/>
        </p:nvSpPr>
        <p:spPr>
          <a:xfrm>
            <a:off x="5857875" y="1619250"/>
            <a:ext cx="514350" cy="514350"/>
          </a:xfrm>
          <a:prstGeom prst="ellipse">
            <a:avLst/>
          </a:prstGeom>
          <a:solidFill>
            <a:srgbClr val="0874C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ool-2-icon-label">
            <a:extLst>
              <a:ext uri="{FF2B5EF4-FFF2-40B4-BE49-F238E27FC236}">
                <a16:creationId xmlns:a16="http://schemas.microsoft.com/office/drawing/2014/main" id="{3759C2D5-9326-4895-9F66-F29897D9476E}"/>
              </a:ext>
            </a:extLst>
          </p:cNvPr>
          <p:cNvSpPr>
            <a:spLocks noGrp="1"/>
          </p:cNvSpPr>
          <p:nvPr/>
        </p:nvSpPr>
        <p:spPr>
          <a:xfrm>
            <a:off x="5857875" y="1619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ool-2-card">
            <a:extLst>
              <a:ext uri="{FF2B5EF4-FFF2-40B4-BE49-F238E27FC236}">
                <a16:creationId xmlns:a16="http://schemas.microsoft.com/office/drawing/2014/main" id="{D325FDD9-2234-417D-AB5A-2A9637F46C95}"/>
              </a:ext>
            </a:extLst>
          </p:cNvPr>
          <p:cNvSpPr>
            <a:spLocks noGrp="1"/>
          </p:cNvSpPr>
          <p:nvPr/>
        </p:nvSpPr>
        <p:spPr>
          <a:xfrm>
            <a:off x="4667250" y="2238375"/>
            <a:ext cx="2952750" cy="3143250"/>
          </a:xfrm>
          <a:prstGeom prst="roundRect">
            <a:avLst>
              <a:gd name="adj" fmla="val 3871"/>
            </a:avLst>
          </a:prstGeom>
          <a:solidFill>
            <a:srgbClr val="E8F3FB"/>
          </a:solidFill>
          <a:ln w="14288">
            <a:solidFill>
              <a:srgbClr val="0874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9" name="tool-2-accent">
            <a:extLst>
              <a:ext uri="{FF2B5EF4-FFF2-40B4-BE49-F238E27FC236}">
                <a16:creationId xmlns:a16="http://schemas.microsoft.com/office/drawing/2014/main" id="{3D2CABB1-881A-4CE9-915A-5F9BF764055A}"/>
              </a:ext>
            </a:extLst>
          </p:cNvPr>
          <p:cNvSpPr>
            <a:spLocks noGrp="1"/>
          </p:cNvSpPr>
          <p:nvPr/>
        </p:nvSpPr>
        <p:spPr>
          <a:xfrm>
            <a:off x="4667250" y="2238375"/>
            <a:ext cx="76200" cy="3143250"/>
          </a:xfrm>
          <a:prstGeom prst="rect">
            <a:avLst/>
          </a:prstGeom>
          <a:solidFill>
            <a:srgbClr val="0874C9"/>
          </a:solidFill>
          <a:ln w="0">
            <a:solidFill>
              <a:srgbClr val="0874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ool-2-title">
            <a:extLst>
              <a:ext uri="{FF2B5EF4-FFF2-40B4-BE49-F238E27FC236}">
                <a16:creationId xmlns:a16="http://schemas.microsoft.com/office/drawing/2014/main" id="{8E19050E-6D3A-45BF-BC93-29E6CEB92F02}"/>
              </a:ext>
            </a:extLst>
          </p:cNvPr>
          <p:cNvSpPr>
            <a:spLocks noGrp="1"/>
          </p:cNvSpPr>
          <p:nvPr/>
        </p:nvSpPr>
        <p:spPr>
          <a:xfrm>
            <a:off x="4895850" y="2352675"/>
            <a:ext cx="255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GOOGLE GEMINI</a:t>
            </a:r>
          </a:p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Pesquisa e contexto</a:t>
            </a:r>
          </a:p>
        </p:txBody>
      </p:sp>
      <p:sp>
        <p:nvSpPr>
          <p:cNvPr id="21" name="tool-2-body">
            <a:extLst>
              <a:ext uri="{FF2B5EF4-FFF2-40B4-BE49-F238E27FC236}">
                <a16:creationId xmlns:a16="http://schemas.microsoft.com/office/drawing/2014/main" id="{A141AC25-EA2B-4B9E-92DC-8219F3DE20E0}"/>
              </a:ext>
            </a:extLst>
          </p:cNvPr>
          <p:cNvSpPr>
            <a:spLocks noGrp="1"/>
          </p:cNvSpPr>
          <p:nvPr/>
        </p:nvSpPr>
        <p:spPr>
          <a:xfrm>
            <a:off x="4895850" y="2981325"/>
            <a:ext cx="253365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Pesquisa e contexto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Organização de dados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USO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Amplie o cenário com fontes verificáveis.</a:t>
            </a:r>
          </a:p>
        </p:txBody>
      </p:sp>
      <p:sp>
        <p:nvSpPr>
          <p:cNvPr id="22" name="tool-3-icon-circle">
            <a:extLst>
              <a:ext uri="{FF2B5EF4-FFF2-40B4-BE49-F238E27FC236}">
                <a16:creationId xmlns:a16="http://schemas.microsoft.com/office/drawing/2014/main" id="{E5DB76CD-C603-407A-8EB9-8D9B17F0CE1D}"/>
              </a:ext>
            </a:extLst>
          </p:cNvPr>
          <p:cNvSpPr>
            <a:spLocks noGrp="1"/>
          </p:cNvSpPr>
          <p:nvPr/>
        </p:nvSpPr>
        <p:spPr>
          <a:xfrm>
            <a:off x="9239250" y="1619250"/>
            <a:ext cx="514350" cy="514350"/>
          </a:xfrm>
          <a:prstGeom prst="ellipse">
            <a:avLst/>
          </a:prstGeom>
          <a:solidFill>
            <a:srgbClr val="ED5B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ool-3-icon-label">
            <a:extLst>
              <a:ext uri="{FF2B5EF4-FFF2-40B4-BE49-F238E27FC236}">
                <a16:creationId xmlns:a16="http://schemas.microsoft.com/office/drawing/2014/main" id="{260C2304-15B0-4368-8807-F050DF0043B2}"/>
              </a:ext>
            </a:extLst>
          </p:cNvPr>
          <p:cNvSpPr>
            <a:spLocks noGrp="1"/>
          </p:cNvSpPr>
          <p:nvPr/>
        </p:nvSpPr>
        <p:spPr>
          <a:xfrm>
            <a:off x="9239250" y="1619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tool-3-card">
            <a:extLst>
              <a:ext uri="{FF2B5EF4-FFF2-40B4-BE49-F238E27FC236}">
                <a16:creationId xmlns:a16="http://schemas.microsoft.com/office/drawing/2014/main" id="{6345429E-0D17-432B-A7ED-279DEA5BE2EE}"/>
              </a:ext>
            </a:extLst>
          </p:cNvPr>
          <p:cNvSpPr>
            <a:spLocks noGrp="1"/>
          </p:cNvSpPr>
          <p:nvPr/>
        </p:nvSpPr>
        <p:spPr>
          <a:xfrm>
            <a:off x="8048625" y="2238375"/>
            <a:ext cx="2952750" cy="3143250"/>
          </a:xfrm>
          <a:prstGeom prst="roundRect">
            <a:avLst>
              <a:gd name="adj" fmla="val 3871"/>
            </a:avLst>
          </a:prstGeom>
          <a:solidFill>
            <a:srgbClr val="FFF0E7"/>
          </a:solidFill>
          <a:ln w="14288">
            <a:solidFill>
              <a:srgbClr val="ED5B1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5" name="tool-3-accent">
            <a:extLst>
              <a:ext uri="{FF2B5EF4-FFF2-40B4-BE49-F238E27FC236}">
                <a16:creationId xmlns:a16="http://schemas.microsoft.com/office/drawing/2014/main" id="{3BB3C4E3-639B-4726-99D8-5168F61391EA}"/>
              </a:ext>
            </a:extLst>
          </p:cNvPr>
          <p:cNvSpPr>
            <a:spLocks noGrp="1"/>
          </p:cNvSpPr>
          <p:nvPr/>
        </p:nvSpPr>
        <p:spPr>
          <a:xfrm>
            <a:off x="8048625" y="2238375"/>
            <a:ext cx="76200" cy="3143250"/>
          </a:xfrm>
          <a:prstGeom prst="rect">
            <a:avLst/>
          </a:prstGeom>
          <a:solidFill>
            <a:srgbClr val="ED5B12"/>
          </a:solidFill>
          <a:ln w="0">
            <a:solidFill>
              <a:srgbClr val="ED5B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ool-3-title">
            <a:extLst>
              <a:ext uri="{FF2B5EF4-FFF2-40B4-BE49-F238E27FC236}">
                <a16:creationId xmlns:a16="http://schemas.microsoft.com/office/drawing/2014/main" id="{0C65E38F-1546-4A06-A971-FB0D88A75BB1}"/>
              </a:ext>
            </a:extLst>
          </p:cNvPr>
          <p:cNvSpPr>
            <a:spLocks noGrp="1"/>
          </p:cNvSpPr>
          <p:nvPr/>
        </p:nvSpPr>
        <p:spPr>
          <a:xfrm>
            <a:off x="8277225" y="2352675"/>
            <a:ext cx="255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CLAUDE</a:t>
            </a:r>
          </a:p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Análise e refinamento</a:t>
            </a:r>
          </a:p>
        </p:txBody>
      </p:sp>
      <p:sp>
        <p:nvSpPr>
          <p:cNvPr id="27" name="tool-3-body">
            <a:extLst>
              <a:ext uri="{FF2B5EF4-FFF2-40B4-BE49-F238E27FC236}">
                <a16:creationId xmlns:a16="http://schemas.microsoft.com/office/drawing/2014/main" id="{E9535DF6-7FB4-4B5E-AACC-9F08B31084EA}"/>
              </a:ext>
            </a:extLst>
          </p:cNvPr>
          <p:cNvSpPr>
            <a:spLocks noGrp="1"/>
          </p:cNvSpPr>
          <p:nvPr/>
        </p:nvSpPr>
        <p:spPr>
          <a:xfrm>
            <a:off x="8277225" y="2981325"/>
            <a:ext cx="253365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Revisão crítica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Clareza e coerência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USO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Refine e identifique ambiguidades.</a:t>
            </a:r>
          </a:p>
        </p:txBody>
      </p:sp>
      <p:sp>
        <p:nvSpPr>
          <p:cNvPr id="28" name="tools-strategy-band">
            <a:extLst>
              <a:ext uri="{FF2B5EF4-FFF2-40B4-BE49-F238E27FC236}">
                <a16:creationId xmlns:a16="http://schemas.microsoft.com/office/drawing/2014/main" id="{A7AF6F95-1474-4159-8A70-25F2B49E3654}"/>
              </a:ext>
            </a:extLst>
          </p:cNvPr>
          <p:cNvSpPr>
            <a:spLocks noGrp="1"/>
          </p:cNvSpPr>
          <p:nvPr/>
        </p:nvSpPr>
        <p:spPr>
          <a:xfrm>
            <a:off x="2000250" y="5572125"/>
            <a:ext cx="8096250" cy="438150"/>
          </a:xfrm>
          <a:prstGeom prst="roundRect">
            <a:avLst>
              <a:gd name="adj" fmla="val 26087"/>
            </a:avLst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9" name="tools-strategy-text">
            <a:extLst>
              <a:ext uri="{FF2B5EF4-FFF2-40B4-BE49-F238E27FC236}">
                <a16:creationId xmlns:a16="http://schemas.microsoft.com/office/drawing/2014/main" id="{0F3EE821-B98E-49BC-A44E-D6DD23489485}"/>
              </a:ext>
            </a:extLst>
          </p:cNvPr>
          <p:cNvSpPr>
            <a:spLocks noGrp="1"/>
          </p:cNvSpPr>
          <p:nvPr/>
        </p:nvSpPr>
        <p:spPr>
          <a:xfrm>
            <a:off x="2171700" y="5610225"/>
            <a:ext cx="7753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ESTRATÉGIA: rascunho → contextualização → revisão crítica → validação humana.</a:t>
            </a:r>
          </a:p>
        </p:txBody>
      </p:sp>
    </p:spTree>
    <p:extLst>
      <p:ext uri="{BB962C8B-B14F-4D97-AF65-F5344CB8AC3E}">
        <p14:creationId xmlns:p14="http://schemas.microsoft.com/office/powerpoint/2010/main" val="773707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m 3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1" name="Imagem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10">
            <a:extLst>
              <a:ext uri="{FF2B5EF4-FFF2-40B4-BE49-F238E27FC236}">
                <a16:creationId xmlns:a16="http://schemas.microsoft.com/office/drawing/2014/main" id="{9CE828C6-37AA-42DB-9E0D-440B7FA59F49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ENGENHARIA DE PROMPTS</a:t>
            </a:r>
          </a:p>
        </p:txBody>
      </p:sp>
      <p:sp>
        <p:nvSpPr>
          <p:cNvPr id="4" name="footer-10">
            <a:extLst>
              <a:ext uri="{FF2B5EF4-FFF2-40B4-BE49-F238E27FC236}">
                <a16:creationId xmlns:a16="http://schemas.microsoft.com/office/drawing/2014/main" id="{CB452304-932B-4D5C-8AC0-15C6C0071167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10">
            <a:extLst>
              <a:ext uri="{FF2B5EF4-FFF2-40B4-BE49-F238E27FC236}">
                <a16:creationId xmlns:a16="http://schemas.microsoft.com/office/drawing/2014/main" id="{22AE5774-EB88-48C7-B2C8-1DE2C078460E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10">
            <a:extLst>
              <a:ext uri="{FF2B5EF4-FFF2-40B4-BE49-F238E27FC236}">
                <a16:creationId xmlns:a16="http://schemas.microsoft.com/office/drawing/2014/main" id="{E245FD58-52B6-423C-9009-E153246017AE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068525B7-0735-4C70-9EFF-6F648F83C1D4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OS 4 PILARES DO PROMPT PROFISSIONAL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62873992-457B-4B40-9CF9-5F9C2EAD8DBC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3DFEC1C9-9D4A-4AD9-95AB-E7C3E23AB8E6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A8AD26AD-5E79-48CE-B65B-BC30A033852F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Estrutura para resultados consistentes</a:t>
            </a:r>
          </a:p>
        </p:txBody>
      </p:sp>
      <p:sp>
        <p:nvSpPr>
          <p:cNvPr id="11" name="pillar-1-circle">
            <a:extLst>
              <a:ext uri="{FF2B5EF4-FFF2-40B4-BE49-F238E27FC236}">
                <a16:creationId xmlns:a16="http://schemas.microsoft.com/office/drawing/2014/main" id="{5276BA73-51F9-4596-B615-BF8222F150EB}"/>
              </a:ext>
            </a:extLst>
          </p:cNvPr>
          <p:cNvSpPr>
            <a:spLocks noGrp="1"/>
          </p:cNvSpPr>
          <p:nvPr/>
        </p:nvSpPr>
        <p:spPr>
          <a:xfrm>
            <a:off x="2095500" y="1571625"/>
            <a:ext cx="495300" cy="4953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pillar-1-label">
            <a:extLst>
              <a:ext uri="{FF2B5EF4-FFF2-40B4-BE49-F238E27FC236}">
                <a16:creationId xmlns:a16="http://schemas.microsoft.com/office/drawing/2014/main" id="{4A3D4DE5-F9D5-4B4B-904E-491C3AF9A927}"/>
              </a:ext>
            </a:extLst>
          </p:cNvPr>
          <p:cNvSpPr>
            <a:spLocks noGrp="1"/>
          </p:cNvSpPr>
          <p:nvPr/>
        </p:nvSpPr>
        <p:spPr>
          <a:xfrm>
            <a:off x="2095500" y="15716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illar-card-1-card">
            <a:extLst>
              <a:ext uri="{FF2B5EF4-FFF2-40B4-BE49-F238E27FC236}">
                <a16:creationId xmlns:a16="http://schemas.microsoft.com/office/drawing/2014/main" id="{CAC74C09-3833-4CFA-A842-7A324E112E04}"/>
              </a:ext>
            </a:extLst>
          </p:cNvPr>
          <p:cNvSpPr>
            <a:spLocks noGrp="1"/>
          </p:cNvSpPr>
          <p:nvPr/>
        </p:nvSpPr>
        <p:spPr>
          <a:xfrm>
            <a:off x="1190625" y="2209800"/>
            <a:ext cx="2286000" cy="3333750"/>
          </a:xfrm>
          <a:prstGeom prst="roundRect">
            <a:avLst>
              <a:gd name="adj" fmla="val 5000"/>
            </a:avLst>
          </a:prstGeom>
          <a:solidFill>
            <a:srgbClr val="E8F3FB"/>
          </a:solidFill>
          <a:ln w="14288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4" name="pillar-card-1-accent">
            <a:extLst>
              <a:ext uri="{FF2B5EF4-FFF2-40B4-BE49-F238E27FC236}">
                <a16:creationId xmlns:a16="http://schemas.microsoft.com/office/drawing/2014/main" id="{3E7EE2B6-4667-4E37-88A2-155A24140695}"/>
              </a:ext>
            </a:extLst>
          </p:cNvPr>
          <p:cNvSpPr>
            <a:spLocks noGrp="1"/>
          </p:cNvSpPr>
          <p:nvPr/>
        </p:nvSpPr>
        <p:spPr>
          <a:xfrm>
            <a:off x="1190625" y="2209800"/>
            <a:ext cx="76200" cy="3333750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pillar-card-1-title">
            <a:extLst>
              <a:ext uri="{FF2B5EF4-FFF2-40B4-BE49-F238E27FC236}">
                <a16:creationId xmlns:a16="http://schemas.microsoft.com/office/drawing/2014/main" id="{9A5B957B-C2AF-48DD-867E-9287B75B84BA}"/>
              </a:ext>
            </a:extLst>
          </p:cNvPr>
          <p:cNvSpPr>
            <a:spLocks noGrp="1"/>
          </p:cNvSpPr>
          <p:nvPr/>
        </p:nvSpPr>
        <p:spPr>
          <a:xfrm>
            <a:off x="1419225" y="2324100"/>
            <a:ext cx="1885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PERSONA</a:t>
            </a:r>
          </a:p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Quem a IA deve ser?</a:t>
            </a:r>
          </a:p>
        </p:txBody>
      </p:sp>
      <p:sp>
        <p:nvSpPr>
          <p:cNvPr id="16" name="pillar-card-1-body">
            <a:extLst>
              <a:ext uri="{FF2B5EF4-FFF2-40B4-BE49-F238E27FC236}">
                <a16:creationId xmlns:a16="http://schemas.microsoft.com/office/drawing/2014/main" id="{3DB86A2A-5114-40EB-9BF7-FB8C2851DDA9}"/>
              </a:ext>
            </a:extLst>
          </p:cNvPr>
          <p:cNvSpPr>
            <a:spLocks noGrp="1"/>
          </p:cNvSpPr>
          <p:nvPr/>
        </p:nvSpPr>
        <p:spPr>
          <a:xfrm>
            <a:off x="1419225" y="2971800"/>
            <a:ext cx="18669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Defina papel e experiência.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Ex.: “Atue como docente e elaborador ENADE.”</a:t>
            </a:r>
          </a:p>
        </p:txBody>
      </p:sp>
      <p:sp>
        <p:nvSpPr>
          <p:cNvPr id="17" name="pillar-arrow-1">
            <a:extLst>
              <a:ext uri="{FF2B5EF4-FFF2-40B4-BE49-F238E27FC236}">
                <a16:creationId xmlns:a16="http://schemas.microsoft.com/office/drawing/2014/main" id="{C21391EE-F6A3-452C-8A82-271190D50E55}"/>
              </a:ext>
            </a:extLst>
          </p:cNvPr>
          <p:cNvSpPr>
            <a:spLocks noGrp="1"/>
          </p:cNvSpPr>
          <p:nvPr/>
        </p:nvSpPr>
        <p:spPr>
          <a:xfrm>
            <a:off x="3476625" y="347662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pillar-2-circle">
            <a:extLst>
              <a:ext uri="{FF2B5EF4-FFF2-40B4-BE49-F238E27FC236}">
                <a16:creationId xmlns:a16="http://schemas.microsoft.com/office/drawing/2014/main" id="{25C25A27-7F3F-4F42-957D-A2EDA268A3BF}"/>
              </a:ext>
            </a:extLst>
          </p:cNvPr>
          <p:cNvSpPr>
            <a:spLocks noGrp="1"/>
          </p:cNvSpPr>
          <p:nvPr/>
        </p:nvSpPr>
        <p:spPr>
          <a:xfrm>
            <a:off x="4762500" y="1571625"/>
            <a:ext cx="495300" cy="495300"/>
          </a:xfrm>
          <a:prstGeom prst="ellipse">
            <a:avLst/>
          </a:prstGeom>
          <a:solidFill>
            <a:srgbClr val="1182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pillar-2-label">
            <a:extLst>
              <a:ext uri="{FF2B5EF4-FFF2-40B4-BE49-F238E27FC236}">
                <a16:creationId xmlns:a16="http://schemas.microsoft.com/office/drawing/2014/main" id="{5D0C2B2B-C805-43D4-B5DD-57474B4A85F1}"/>
              </a:ext>
            </a:extLst>
          </p:cNvPr>
          <p:cNvSpPr>
            <a:spLocks noGrp="1"/>
          </p:cNvSpPr>
          <p:nvPr/>
        </p:nvSpPr>
        <p:spPr>
          <a:xfrm>
            <a:off x="4762500" y="15716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illar-card-2-card">
            <a:extLst>
              <a:ext uri="{FF2B5EF4-FFF2-40B4-BE49-F238E27FC236}">
                <a16:creationId xmlns:a16="http://schemas.microsoft.com/office/drawing/2014/main" id="{A29E8016-4F05-429C-A9F0-F35E8EB16277}"/>
              </a:ext>
            </a:extLst>
          </p:cNvPr>
          <p:cNvSpPr>
            <a:spLocks noGrp="1"/>
          </p:cNvSpPr>
          <p:nvPr/>
        </p:nvSpPr>
        <p:spPr>
          <a:xfrm>
            <a:off x="3857625" y="2209800"/>
            <a:ext cx="2286000" cy="3333750"/>
          </a:xfrm>
          <a:prstGeom prst="roundRect">
            <a:avLst>
              <a:gd name="adj" fmla="val 5000"/>
            </a:avLst>
          </a:prstGeom>
          <a:solidFill>
            <a:srgbClr val="E7F5ED"/>
          </a:solidFill>
          <a:ln w="14288">
            <a:solidFill>
              <a:srgbClr val="11824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pillar-card-2-accent">
            <a:extLst>
              <a:ext uri="{FF2B5EF4-FFF2-40B4-BE49-F238E27FC236}">
                <a16:creationId xmlns:a16="http://schemas.microsoft.com/office/drawing/2014/main" id="{8B7F32A9-2A1E-4860-87BF-EBFF66C7B247}"/>
              </a:ext>
            </a:extLst>
          </p:cNvPr>
          <p:cNvSpPr>
            <a:spLocks noGrp="1"/>
          </p:cNvSpPr>
          <p:nvPr/>
        </p:nvSpPr>
        <p:spPr>
          <a:xfrm>
            <a:off x="3857625" y="2209800"/>
            <a:ext cx="76200" cy="3333750"/>
          </a:xfrm>
          <a:prstGeom prst="rect">
            <a:avLst/>
          </a:prstGeom>
          <a:solidFill>
            <a:srgbClr val="11824B"/>
          </a:solidFill>
          <a:ln w="0">
            <a:solidFill>
              <a:srgbClr val="118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pillar-card-2-title">
            <a:extLst>
              <a:ext uri="{FF2B5EF4-FFF2-40B4-BE49-F238E27FC236}">
                <a16:creationId xmlns:a16="http://schemas.microsoft.com/office/drawing/2014/main" id="{9DE4D895-B6BB-42C6-B697-D9E878E494A3}"/>
              </a:ext>
            </a:extLst>
          </p:cNvPr>
          <p:cNvSpPr>
            <a:spLocks noGrp="1"/>
          </p:cNvSpPr>
          <p:nvPr/>
        </p:nvSpPr>
        <p:spPr>
          <a:xfrm>
            <a:off x="4086225" y="2324100"/>
            <a:ext cx="1885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CONTEXTO</a:t>
            </a:r>
          </a:p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Qual é o cenário?</a:t>
            </a:r>
          </a:p>
        </p:txBody>
      </p:sp>
      <p:sp>
        <p:nvSpPr>
          <p:cNvPr id="23" name="pillar-card-2-body">
            <a:extLst>
              <a:ext uri="{FF2B5EF4-FFF2-40B4-BE49-F238E27FC236}">
                <a16:creationId xmlns:a16="http://schemas.microsoft.com/office/drawing/2014/main" id="{DE571EA0-1EF7-469C-A380-79A3617F0859}"/>
              </a:ext>
            </a:extLst>
          </p:cNvPr>
          <p:cNvSpPr>
            <a:spLocks noGrp="1"/>
          </p:cNvSpPr>
          <p:nvPr/>
        </p:nvSpPr>
        <p:spPr>
          <a:xfrm>
            <a:off x="4086225" y="2971800"/>
            <a:ext cx="18669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Informe tema, público e fonte.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Ex.: “Aborde [tema] com dados de [fonte].”</a:t>
            </a:r>
          </a:p>
        </p:txBody>
      </p:sp>
      <p:sp>
        <p:nvSpPr>
          <p:cNvPr id="24" name="pillar-arrow-2">
            <a:extLst>
              <a:ext uri="{FF2B5EF4-FFF2-40B4-BE49-F238E27FC236}">
                <a16:creationId xmlns:a16="http://schemas.microsoft.com/office/drawing/2014/main" id="{B58FA2ED-3C4A-4E6D-9F54-546BC5D5DB82}"/>
              </a:ext>
            </a:extLst>
          </p:cNvPr>
          <p:cNvSpPr>
            <a:spLocks noGrp="1"/>
          </p:cNvSpPr>
          <p:nvPr/>
        </p:nvSpPr>
        <p:spPr>
          <a:xfrm>
            <a:off x="6143625" y="347662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pillar-3-circle">
            <a:extLst>
              <a:ext uri="{FF2B5EF4-FFF2-40B4-BE49-F238E27FC236}">
                <a16:creationId xmlns:a16="http://schemas.microsoft.com/office/drawing/2014/main" id="{12D03EEA-1118-4E8A-B493-2FC77463A9A4}"/>
              </a:ext>
            </a:extLst>
          </p:cNvPr>
          <p:cNvSpPr>
            <a:spLocks noGrp="1"/>
          </p:cNvSpPr>
          <p:nvPr/>
        </p:nvSpPr>
        <p:spPr>
          <a:xfrm>
            <a:off x="7429500" y="1571625"/>
            <a:ext cx="495300" cy="495300"/>
          </a:xfrm>
          <a:prstGeom prst="ellipse">
            <a:avLst/>
          </a:prstGeom>
          <a:solidFill>
            <a:srgbClr val="ED5B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pillar-3-label">
            <a:extLst>
              <a:ext uri="{FF2B5EF4-FFF2-40B4-BE49-F238E27FC236}">
                <a16:creationId xmlns:a16="http://schemas.microsoft.com/office/drawing/2014/main" id="{E0CF3D9A-8BDF-4F70-8BAE-54557460AF8E}"/>
              </a:ext>
            </a:extLst>
          </p:cNvPr>
          <p:cNvSpPr>
            <a:spLocks noGrp="1"/>
          </p:cNvSpPr>
          <p:nvPr/>
        </p:nvSpPr>
        <p:spPr>
          <a:xfrm>
            <a:off x="7429500" y="15716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illar-card-3-card">
            <a:extLst>
              <a:ext uri="{FF2B5EF4-FFF2-40B4-BE49-F238E27FC236}">
                <a16:creationId xmlns:a16="http://schemas.microsoft.com/office/drawing/2014/main" id="{732F29A3-DC4B-428F-8C61-469091EF3CE7}"/>
              </a:ext>
            </a:extLst>
          </p:cNvPr>
          <p:cNvSpPr>
            <a:spLocks noGrp="1"/>
          </p:cNvSpPr>
          <p:nvPr/>
        </p:nvSpPr>
        <p:spPr>
          <a:xfrm>
            <a:off x="6524625" y="2209800"/>
            <a:ext cx="2286000" cy="3333750"/>
          </a:xfrm>
          <a:prstGeom prst="roundRect">
            <a:avLst>
              <a:gd name="adj" fmla="val 5000"/>
            </a:avLst>
          </a:prstGeom>
          <a:solidFill>
            <a:srgbClr val="FFF0E7"/>
          </a:solidFill>
          <a:ln w="14288">
            <a:solidFill>
              <a:srgbClr val="ED5B1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8" name="pillar-card-3-accent">
            <a:extLst>
              <a:ext uri="{FF2B5EF4-FFF2-40B4-BE49-F238E27FC236}">
                <a16:creationId xmlns:a16="http://schemas.microsoft.com/office/drawing/2014/main" id="{6154C4B3-2B50-4E0B-9F49-BF05BC702287}"/>
              </a:ext>
            </a:extLst>
          </p:cNvPr>
          <p:cNvSpPr>
            <a:spLocks noGrp="1"/>
          </p:cNvSpPr>
          <p:nvPr/>
        </p:nvSpPr>
        <p:spPr>
          <a:xfrm>
            <a:off x="6524625" y="2209800"/>
            <a:ext cx="76200" cy="3333750"/>
          </a:xfrm>
          <a:prstGeom prst="rect">
            <a:avLst/>
          </a:prstGeom>
          <a:solidFill>
            <a:srgbClr val="ED5B12"/>
          </a:solidFill>
          <a:ln w="0">
            <a:solidFill>
              <a:srgbClr val="ED5B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pillar-card-3-title">
            <a:extLst>
              <a:ext uri="{FF2B5EF4-FFF2-40B4-BE49-F238E27FC236}">
                <a16:creationId xmlns:a16="http://schemas.microsoft.com/office/drawing/2014/main" id="{BDAE8441-2D12-4694-BD9A-7277AC630A70}"/>
              </a:ext>
            </a:extLst>
          </p:cNvPr>
          <p:cNvSpPr>
            <a:spLocks noGrp="1"/>
          </p:cNvSpPr>
          <p:nvPr/>
        </p:nvSpPr>
        <p:spPr>
          <a:xfrm>
            <a:off x="6753225" y="2324100"/>
            <a:ext cx="1885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INSTRUÇÃO</a:t>
            </a:r>
          </a:p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 que deve ser feito?</a:t>
            </a:r>
          </a:p>
        </p:txBody>
      </p:sp>
      <p:sp>
        <p:nvSpPr>
          <p:cNvPr id="30" name="pillar-card-3-body">
            <a:extLst>
              <a:ext uri="{FF2B5EF4-FFF2-40B4-BE49-F238E27FC236}">
                <a16:creationId xmlns:a16="http://schemas.microsoft.com/office/drawing/2014/main" id="{ACF82BD5-406D-4689-8D3E-70F1978BEC2F}"/>
              </a:ext>
            </a:extLst>
          </p:cNvPr>
          <p:cNvSpPr>
            <a:spLocks noGrp="1"/>
          </p:cNvSpPr>
          <p:nvPr/>
        </p:nvSpPr>
        <p:spPr>
          <a:xfrm>
            <a:off x="6753225" y="2971800"/>
            <a:ext cx="18669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Descreva o produto esperado.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Ex.: “Crie item e gabarito comentado.”</a:t>
            </a:r>
          </a:p>
        </p:txBody>
      </p:sp>
      <p:sp>
        <p:nvSpPr>
          <p:cNvPr id="31" name="pillar-arrow-3">
            <a:extLst>
              <a:ext uri="{FF2B5EF4-FFF2-40B4-BE49-F238E27FC236}">
                <a16:creationId xmlns:a16="http://schemas.microsoft.com/office/drawing/2014/main" id="{BC0A7840-9379-40E1-A87B-C7E87E3245ED}"/>
              </a:ext>
            </a:extLst>
          </p:cNvPr>
          <p:cNvSpPr>
            <a:spLocks noGrp="1"/>
          </p:cNvSpPr>
          <p:nvPr/>
        </p:nvSpPr>
        <p:spPr>
          <a:xfrm>
            <a:off x="8810625" y="347662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pillar-4-circle">
            <a:extLst>
              <a:ext uri="{FF2B5EF4-FFF2-40B4-BE49-F238E27FC236}">
                <a16:creationId xmlns:a16="http://schemas.microsoft.com/office/drawing/2014/main" id="{A1627341-3F52-4573-9003-596A9ADB4405}"/>
              </a:ext>
            </a:extLst>
          </p:cNvPr>
          <p:cNvSpPr>
            <a:spLocks noGrp="1"/>
          </p:cNvSpPr>
          <p:nvPr/>
        </p:nvSpPr>
        <p:spPr>
          <a:xfrm>
            <a:off x="10096500" y="1571625"/>
            <a:ext cx="495300" cy="495300"/>
          </a:xfrm>
          <a:prstGeom prst="ellipse">
            <a:avLst/>
          </a:prstGeom>
          <a:solidFill>
            <a:srgbClr val="7015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pillar-4-label">
            <a:extLst>
              <a:ext uri="{FF2B5EF4-FFF2-40B4-BE49-F238E27FC236}">
                <a16:creationId xmlns:a16="http://schemas.microsoft.com/office/drawing/2014/main" id="{D0F905F1-4C75-4413-ADC5-426D14D43577}"/>
              </a:ext>
            </a:extLst>
          </p:cNvPr>
          <p:cNvSpPr>
            <a:spLocks noGrp="1"/>
          </p:cNvSpPr>
          <p:nvPr/>
        </p:nvSpPr>
        <p:spPr>
          <a:xfrm>
            <a:off x="10096500" y="15716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illar-card-4-card">
            <a:extLst>
              <a:ext uri="{FF2B5EF4-FFF2-40B4-BE49-F238E27FC236}">
                <a16:creationId xmlns:a16="http://schemas.microsoft.com/office/drawing/2014/main" id="{7E211EDC-C687-42AF-8B19-67FAF4865D86}"/>
              </a:ext>
            </a:extLst>
          </p:cNvPr>
          <p:cNvSpPr>
            <a:spLocks noGrp="1"/>
          </p:cNvSpPr>
          <p:nvPr/>
        </p:nvSpPr>
        <p:spPr>
          <a:xfrm>
            <a:off x="9191625" y="2209800"/>
            <a:ext cx="2286000" cy="3333750"/>
          </a:xfrm>
          <a:prstGeom prst="roundRect">
            <a:avLst>
              <a:gd name="adj" fmla="val 5000"/>
            </a:avLst>
          </a:prstGeom>
          <a:solidFill>
            <a:srgbClr val="F2E8FB"/>
          </a:solidFill>
          <a:ln w="14288">
            <a:solidFill>
              <a:srgbClr val="7015B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5" name="pillar-card-4-accent">
            <a:extLst>
              <a:ext uri="{FF2B5EF4-FFF2-40B4-BE49-F238E27FC236}">
                <a16:creationId xmlns:a16="http://schemas.microsoft.com/office/drawing/2014/main" id="{6DDC4224-3045-4709-A0FC-275D8560A7F3}"/>
              </a:ext>
            </a:extLst>
          </p:cNvPr>
          <p:cNvSpPr>
            <a:spLocks noGrp="1"/>
          </p:cNvSpPr>
          <p:nvPr/>
        </p:nvSpPr>
        <p:spPr>
          <a:xfrm>
            <a:off x="9191625" y="2209800"/>
            <a:ext cx="76200" cy="3333750"/>
          </a:xfrm>
          <a:prstGeom prst="rect">
            <a:avLst/>
          </a:prstGeom>
          <a:solidFill>
            <a:srgbClr val="7015B8"/>
          </a:solidFill>
          <a:ln w="0">
            <a:solidFill>
              <a:srgbClr val="7015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pillar-card-4-title">
            <a:extLst>
              <a:ext uri="{FF2B5EF4-FFF2-40B4-BE49-F238E27FC236}">
                <a16:creationId xmlns:a16="http://schemas.microsoft.com/office/drawing/2014/main" id="{12C08594-2C04-4935-A1B0-981C78F725CF}"/>
              </a:ext>
            </a:extLst>
          </p:cNvPr>
          <p:cNvSpPr>
            <a:spLocks noGrp="1"/>
          </p:cNvSpPr>
          <p:nvPr/>
        </p:nvSpPr>
        <p:spPr>
          <a:xfrm>
            <a:off x="9420225" y="2324100"/>
            <a:ext cx="1885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FORMATO</a:t>
            </a:r>
          </a:p>
          <a:p>
            <a:pPr algn="l">
              <a:def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Como entregar?</a:t>
            </a:r>
          </a:p>
        </p:txBody>
      </p:sp>
      <p:sp>
        <p:nvSpPr>
          <p:cNvPr id="37" name="pillar-card-4-body">
            <a:extLst>
              <a:ext uri="{FF2B5EF4-FFF2-40B4-BE49-F238E27FC236}">
                <a16:creationId xmlns:a16="http://schemas.microsoft.com/office/drawing/2014/main" id="{86B5BFC8-F4FF-4BD9-9504-0632583C43C3}"/>
              </a:ext>
            </a:extLst>
          </p:cNvPr>
          <p:cNvSpPr>
            <a:spLocks noGrp="1"/>
          </p:cNvSpPr>
          <p:nvPr/>
        </p:nvSpPr>
        <p:spPr>
          <a:xfrm>
            <a:off x="9420225" y="2971800"/>
            <a:ext cx="18669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Defina padrão, tom e nível.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Ex.: “ENADE, nível Analisar, linguagem técnica.”</a:t>
            </a:r>
          </a:p>
        </p:txBody>
      </p:sp>
      <p:sp>
        <p:nvSpPr>
          <p:cNvPr id="38" name="pillars-key-band">
            <a:extLst>
              <a:ext uri="{FF2B5EF4-FFF2-40B4-BE49-F238E27FC236}">
                <a16:creationId xmlns:a16="http://schemas.microsoft.com/office/drawing/2014/main" id="{0E9C43A4-EF92-4075-952B-4A400CE0EB35}"/>
              </a:ext>
            </a:extLst>
          </p:cNvPr>
          <p:cNvSpPr>
            <a:spLocks noGrp="1"/>
          </p:cNvSpPr>
          <p:nvPr/>
        </p:nvSpPr>
        <p:spPr>
          <a:xfrm>
            <a:off x="1809750" y="5753100"/>
            <a:ext cx="8382000" cy="438150"/>
          </a:xfrm>
          <a:prstGeom prst="roundRect">
            <a:avLst>
              <a:gd name="adj" fmla="val 26087"/>
            </a:avLst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9" name="pillars-key-text">
            <a:extLst>
              <a:ext uri="{FF2B5EF4-FFF2-40B4-BE49-F238E27FC236}">
                <a16:creationId xmlns:a16="http://schemas.microsoft.com/office/drawing/2014/main" id="{3F4C3ABB-B70D-4B84-BD3A-D0888DCD1074}"/>
              </a:ext>
            </a:extLst>
          </p:cNvPr>
          <p:cNvSpPr>
            <a:spLocks noGrp="1"/>
          </p:cNvSpPr>
          <p:nvPr/>
        </p:nvSpPr>
        <p:spPr>
          <a:xfrm>
            <a:off x="1981200" y="5791200"/>
            <a:ext cx="803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 + CONTEXTO + INSTRUÇÃO + FORMATO = prompt claro, verificável e reutilizável.</a:t>
            </a:r>
          </a:p>
        </p:txBody>
      </p:sp>
    </p:spTree>
    <p:extLst>
      <p:ext uri="{BB962C8B-B14F-4D97-AF65-F5344CB8AC3E}">
        <p14:creationId xmlns:p14="http://schemas.microsoft.com/office/powerpoint/2010/main" val="854546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11">
            <a:extLst>
              <a:ext uri="{FF2B5EF4-FFF2-40B4-BE49-F238E27FC236}">
                <a16:creationId xmlns:a16="http://schemas.microsoft.com/office/drawing/2014/main" id="{EB5174CF-470D-4BE9-8BEA-36EFD98A6642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QUESTÕES NO PADRÃO ENADE</a:t>
            </a:r>
          </a:p>
        </p:txBody>
      </p:sp>
      <p:sp>
        <p:nvSpPr>
          <p:cNvPr id="4" name="footer-11">
            <a:extLst>
              <a:ext uri="{FF2B5EF4-FFF2-40B4-BE49-F238E27FC236}">
                <a16:creationId xmlns:a16="http://schemas.microsoft.com/office/drawing/2014/main" id="{68A78648-A7EE-4028-B2C9-BF6371F2DF70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11">
            <a:extLst>
              <a:ext uri="{FF2B5EF4-FFF2-40B4-BE49-F238E27FC236}">
                <a16:creationId xmlns:a16="http://schemas.microsoft.com/office/drawing/2014/main" id="{781A0F02-6B63-4613-A81C-E5BE2339F656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11">
            <a:extLst>
              <a:ext uri="{FF2B5EF4-FFF2-40B4-BE49-F238E27FC236}">
                <a16:creationId xmlns:a16="http://schemas.microsoft.com/office/drawing/2014/main" id="{84BA5BD5-8913-4702-AF57-1F80868CACA5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CE4231E3-56E1-434C-927C-D790D99C3751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ANATOMIA DA QUESTÃO ENADE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2C0E53BE-F775-4FBA-9D97-C89553C6D7BF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31BE3B6C-1887-4C1B-B856-7D5D6F76460B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8DAF7EEB-F4BE-4AD1-A5CD-82FCF0BFCFB0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Quatro componentes essenciais</a:t>
            </a:r>
          </a:p>
        </p:txBody>
      </p:sp>
      <p:sp>
        <p:nvSpPr>
          <p:cNvPr id="11" name="anatomy-row-1">
            <a:extLst>
              <a:ext uri="{FF2B5EF4-FFF2-40B4-BE49-F238E27FC236}">
                <a16:creationId xmlns:a16="http://schemas.microsoft.com/office/drawing/2014/main" id="{35D3B103-7DDB-4263-A54B-F2DE9D0CF8AF}"/>
              </a:ext>
            </a:extLst>
          </p:cNvPr>
          <p:cNvSpPr>
            <a:spLocks noGrp="1"/>
          </p:cNvSpPr>
          <p:nvPr/>
        </p:nvSpPr>
        <p:spPr>
          <a:xfrm>
            <a:off x="1524000" y="1504950"/>
            <a:ext cx="8858250" cy="895350"/>
          </a:xfrm>
          <a:prstGeom prst="roundRect">
            <a:avLst>
              <a:gd name="adj" fmla="val 12766"/>
            </a:avLst>
          </a:prstGeom>
          <a:solidFill>
            <a:srgbClr val="E8F3FB"/>
          </a:solidFill>
          <a:ln w="11430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anatomy-code-1-circle">
            <a:extLst>
              <a:ext uri="{FF2B5EF4-FFF2-40B4-BE49-F238E27FC236}">
                <a16:creationId xmlns:a16="http://schemas.microsoft.com/office/drawing/2014/main" id="{0E9755F7-F1D5-4A95-8295-CA2C58D1ADC6}"/>
              </a:ext>
            </a:extLst>
          </p:cNvPr>
          <p:cNvSpPr>
            <a:spLocks noGrp="1"/>
          </p:cNvSpPr>
          <p:nvPr/>
        </p:nvSpPr>
        <p:spPr>
          <a:xfrm>
            <a:off x="1714500" y="1704975"/>
            <a:ext cx="495300" cy="4953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anatomy-code-1-label">
            <a:extLst>
              <a:ext uri="{FF2B5EF4-FFF2-40B4-BE49-F238E27FC236}">
                <a16:creationId xmlns:a16="http://schemas.microsoft.com/office/drawing/2014/main" id="{997B5322-A1D3-434B-88C4-C2EF98C8F395}"/>
              </a:ext>
            </a:extLst>
          </p:cNvPr>
          <p:cNvSpPr>
            <a:spLocks noGrp="1"/>
          </p:cNvSpPr>
          <p:nvPr/>
        </p:nvSpPr>
        <p:spPr>
          <a:xfrm>
            <a:off x="1714500" y="17049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anatomy-title-1">
            <a:extLst>
              <a:ext uri="{FF2B5EF4-FFF2-40B4-BE49-F238E27FC236}">
                <a16:creationId xmlns:a16="http://schemas.microsoft.com/office/drawing/2014/main" id="{71EC57AC-5EB8-4752-8264-D6ED7A7F0C13}"/>
              </a:ext>
            </a:extLst>
          </p:cNvPr>
          <p:cNvSpPr>
            <a:spLocks noGrp="1"/>
          </p:cNvSpPr>
          <p:nvPr/>
        </p:nvSpPr>
        <p:spPr>
          <a:xfrm>
            <a:off x="2428875" y="15716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74C93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074C93"/>
                </a:solidFill>
                <a:latin typeface="Arial Narrow"/>
                <a:ea typeface="Arial Narrow"/>
                <a:cs typeface="Arial Narrow"/>
              </a:rPr>
              <a:t>TEXTO-BASE</a:t>
            </a:r>
          </a:p>
        </p:txBody>
      </p:sp>
      <p:sp>
        <p:nvSpPr>
          <p:cNvPr id="15" name="anatomy-body-1">
            <a:extLst>
              <a:ext uri="{FF2B5EF4-FFF2-40B4-BE49-F238E27FC236}">
                <a16:creationId xmlns:a16="http://schemas.microsoft.com/office/drawing/2014/main" id="{B530B1B3-0766-4D64-9CFA-C7282EB1AFF1}"/>
              </a:ext>
            </a:extLst>
          </p:cNvPr>
          <p:cNvSpPr>
            <a:spLocks noGrp="1"/>
          </p:cNvSpPr>
          <p:nvPr/>
        </p:nvSpPr>
        <p:spPr>
          <a:xfrm>
            <a:off x="2428875" y="1857375"/>
            <a:ext cx="7667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Notícia, caso, gráfico ou problema ligado à realidade profissional.</a:t>
            </a:r>
          </a:p>
        </p:txBody>
      </p:sp>
      <p:sp>
        <p:nvSpPr>
          <p:cNvPr id="16" name="anatomy-row-2">
            <a:extLst>
              <a:ext uri="{FF2B5EF4-FFF2-40B4-BE49-F238E27FC236}">
                <a16:creationId xmlns:a16="http://schemas.microsoft.com/office/drawing/2014/main" id="{576EB611-E071-45FE-A956-C552F949229B}"/>
              </a:ext>
            </a:extLst>
          </p:cNvPr>
          <p:cNvSpPr>
            <a:spLocks noGrp="1"/>
          </p:cNvSpPr>
          <p:nvPr/>
        </p:nvSpPr>
        <p:spPr>
          <a:xfrm>
            <a:off x="1524000" y="2514600"/>
            <a:ext cx="8858250" cy="895350"/>
          </a:xfrm>
          <a:prstGeom prst="roundRect">
            <a:avLst>
              <a:gd name="adj" fmla="val 12766"/>
            </a:avLst>
          </a:prstGeom>
          <a:solidFill>
            <a:srgbClr val="FFF0E7"/>
          </a:solidFill>
          <a:ln w="11430">
            <a:solidFill>
              <a:srgbClr val="ED5B1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7" name="anatomy-code-2-circle">
            <a:extLst>
              <a:ext uri="{FF2B5EF4-FFF2-40B4-BE49-F238E27FC236}">
                <a16:creationId xmlns:a16="http://schemas.microsoft.com/office/drawing/2014/main" id="{FF704CC7-6266-4DA9-8600-6F914A60A587}"/>
              </a:ext>
            </a:extLst>
          </p:cNvPr>
          <p:cNvSpPr>
            <a:spLocks noGrp="1"/>
          </p:cNvSpPr>
          <p:nvPr/>
        </p:nvSpPr>
        <p:spPr>
          <a:xfrm>
            <a:off x="1714500" y="2714625"/>
            <a:ext cx="495300" cy="495300"/>
          </a:xfrm>
          <a:prstGeom prst="ellipse">
            <a:avLst/>
          </a:prstGeom>
          <a:solidFill>
            <a:srgbClr val="ED5B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anatomy-code-2-label">
            <a:extLst>
              <a:ext uri="{FF2B5EF4-FFF2-40B4-BE49-F238E27FC236}">
                <a16:creationId xmlns:a16="http://schemas.microsoft.com/office/drawing/2014/main" id="{AEE4FB8F-957D-4105-A503-B43D0FCEA066}"/>
              </a:ext>
            </a:extLst>
          </p:cNvPr>
          <p:cNvSpPr>
            <a:spLocks noGrp="1"/>
          </p:cNvSpPr>
          <p:nvPr/>
        </p:nvSpPr>
        <p:spPr>
          <a:xfrm>
            <a:off x="1714500" y="27146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anatomy-title-2">
            <a:extLst>
              <a:ext uri="{FF2B5EF4-FFF2-40B4-BE49-F238E27FC236}">
                <a16:creationId xmlns:a16="http://schemas.microsoft.com/office/drawing/2014/main" id="{8F7D32B5-EB37-4F04-B726-F4827CA2E420}"/>
              </a:ext>
            </a:extLst>
          </p:cNvPr>
          <p:cNvSpPr>
            <a:spLocks noGrp="1"/>
          </p:cNvSpPr>
          <p:nvPr/>
        </p:nvSpPr>
        <p:spPr>
          <a:xfrm>
            <a:off x="2428875" y="25812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ED5B12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ED5B12"/>
                </a:solidFill>
                <a:latin typeface="Arial Narrow"/>
                <a:ea typeface="Arial Narrow"/>
                <a:cs typeface="Arial Narrow"/>
              </a:rPr>
              <a:t>ENUNCIADO</a:t>
            </a:r>
          </a:p>
        </p:txBody>
      </p:sp>
      <p:sp>
        <p:nvSpPr>
          <p:cNvPr id="20" name="anatomy-body-2">
            <a:extLst>
              <a:ext uri="{FF2B5EF4-FFF2-40B4-BE49-F238E27FC236}">
                <a16:creationId xmlns:a16="http://schemas.microsoft.com/office/drawing/2014/main" id="{48D864FD-8076-4292-8B15-A847A2EB7D7E}"/>
              </a:ext>
            </a:extLst>
          </p:cNvPr>
          <p:cNvSpPr>
            <a:spLocks noGrp="1"/>
          </p:cNvSpPr>
          <p:nvPr/>
        </p:nvSpPr>
        <p:spPr>
          <a:xfrm>
            <a:off x="2428875" y="2867025"/>
            <a:ext cx="7667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Comando com verbo de ação, claro e sem ambiguidade.</a:t>
            </a:r>
          </a:p>
        </p:txBody>
      </p:sp>
      <p:sp>
        <p:nvSpPr>
          <p:cNvPr id="21" name="anatomy-row-3">
            <a:extLst>
              <a:ext uri="{FF2B5EF4-FFF2-40B4-BE49-F238E27FC236}">
                <a16:creationId xmlns:a16="http://schemas.microsoft.com/office/drawing/2014/main" id="{5BF1DE0E-F033-43BE-AA43-017CFC445BE8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8858250" cy="895350"/>
          </a:xfrm>
          <a:prstGeom prst="roundRect">
            <a:avLst>
              <a:gd name="adj" fmla="val 12766"/>
            </a:avLst>
          </a:prstGeom>
          <a:solidFill>
            <a:srgbClr val="E7F5ED"/>
          </a:solidFill>
          <a:ln w="11430">
            <a:solidFill>
              <a:srgbClr val="11824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2" name="anatomy-code-3-circle">
            <a:extLst>
              <a:ext uri="{FF2B5EF4-FFF2-40B4-BE49-F238E27FC236}">
                <a16:creationId xmlns:a16="http://schemas.microsoft.com/office/drawing/2014/main" id="{70468A47-A147-462B-A6CA-9DFE123E950F}"/>
              </a:ext>
            </a:extLst>
          </p:cNvPr>
          <p:cNvSpPr>
            <a:spLocks noGrp="1"/>
          </p:cNvSpPr>
          <p:nvPr/>
        </p:nvSpPr>
        <p:spPr>
          <a:xfrm>
            <a:off x="1714500" y="3724275"/>
            <a:ext cx="495300" cy="495300"/>
          </a:xfrm>
          <a:prstGeom prst="ellipse">
            <a:avLst/>
          </a:prstGeom>
          <a:solidFill>
            <a:srgbClr val="1182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anatomy-code-3-label">
            <a:extLst>
              <a:ext uri="{FF2B5EF4-FFF2-40B4-BE49-F238E27FC236}">
                <a16:creationId xmlns:a16="http://schemas.microsoft.com/office/drawing/2014/main" id="{5AD8E1D9-04A0-48A5-A0FA-19C44BC23AE0}"/>
              </a:ext>
            </a:extLst>
          </p:cNvPr>
          <p:cNvSpPr>
            <a:spLocks noGrp="1"/>
          </p:cNvSpPr>
          <p:nvPr/>
        </p:nvSpPr>
        <p:spPr>
          <a:xfrm>
            <a:off x="1714500" y="37242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anatomy-title-3">
            <a:extLst>
              <a:ext uri="{FF2B5EF4-FFF2-40B4-BE49-F238E27FC236}">
                <a16:creationId xmlns:a16="http://schemas.microsoft.com/office/drawing/2014/main" id="{D509D239-3DC9-4692-A79F-8E2BCE7D4F94}"/>
              </a:ext>
            </a:extLst>
          </p:cNvPr>
          <p:cNvSpPr>
            <a:spLocks noGrp="1"/>
          </p:cNvSpPr>
          <p:nvPr/>
        </p:nvSpPr>
        <p:spPr>
          <a:xfrm>
            <a:off x="2428875" y="35909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11824B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11824B"/>
                </a:solidFill>
                <a:latin typeface="Arial Narrow"/>
                <a:ea typeface="Arial Narrow"/>
                <a:cs typeface="Arial Narrow"/>
              </a:rPr>
              <a:t>ALTERNATIVAS A–E</a:t>
            </a:r>
          </a:p>
        </p:txBody>
      </p:sp>
      <p:sp>
        <p:nvSpPr>
          <p:cNvPr id="25" name="anatomy-body-3">
            <a:extLst>
              <a:ext uri="{FF2B5EF4-FFF2-40B4-BE49-F238E27FC236}">
                <a16:creationId xmlns:a16="http://schemas.microsoft.com/office/drawing/2014/main" id="{67AAEC49-A295-408B-831E-2AF85D515757}"/>
              </a:ext>
            </a:extLst>
          </p:cNvPr>
          <p:cNvSpPr>
            <a:spLocks noGrp="1"/>
          </p:cNvSpPr>
          <p:nvPr/>
        </p:nvSpPr>
        <p:spPr>
          <a:xfrm>
            <a:off x="2428875" y="3876675"/>
            <a:ext cx="7667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Uma correta e quatro distratores baseados em erros reais.</a:t>
            </a:r>
          </a:p>
        </p:txBody>
      </p:sp>
      <p:sp>
        <p:nvSpPr>
          <p:cNvPr id="26" name="anatomy-row-4">
            <a:extLst>
              <a:ext uri="{FF2B5EF4-FFF2-40B4-BE49-F238E27FC236}">
                <a16:creationId xmlns:a16="http://schemas.microsoft.com/office/drawing/2014/main" id="{4D6E6E93-9D93-41F0-A192-CBEC51BE18B7}"/>
              </a:ext>
            </a:extLst>
          </p:cNvPr>
          <p:cNvSpPr>
            <a:spLocks noGrp="1"/>
          </p:cNvSpPr>
          <p:nvPr/>
        </p:nvSpPr>
        <p:spPr>
          <a:xfrm>
            <a:off x="1524000" y="4533900"/>
            <a:ext cx="8858250" cy="895350"/>
          </a:xfrm>
          <a:prstGeom prst="roundRect">
            <a:avLst>
              <a:gd name="adj" fmla="val 12766"/>
            </a:avLst>
          </a:prstGeom>
          <a:solidFill>
            <a:srgbClr val="F2E8FB"/>
          </a:solidFill>
          <a:ln w="11430">
            <a:solidFill>
              <a:srgbClr val="7015B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7" name="anatomy-code-4-circle">
            <a:extLst>
              <a:ext uri="{FF2B5EF4-FFF2-40B4-BE49-F238E27FC236}">
                <a16:creationId xmlns:a16="http://schemas.microsoft.com/office/drawing/2014/main" id="{CA1145D3-2B19-44DD-B0C3-6ED43AB6B7A4}"/>
              </a:ext>
            </a:extLst>
          </p:cNvPr>
          <p:cNvSpPr>
            <a:spLocks noGrp="1"/>
          </p:cNvSpPr>
          <p:nvPr/>
        </p:nvSpPr>
        <p:spPr>
          <a:xfrm>
            <a:off x="1714500" y="4733925"/>
            <a:ext cx="495300" cy="495300"/>
          </a:xfrm>
          <a:prstGeom prst="ellipse">
            <a:avLst/>
          </a:prstGeom>
          <a:solidFill>
            <a:srgbClr val="7015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anatomy-code-4-label">
            <a:extLst>
              <a:ext uri="{FF2B5EF4-FFF2-40B4-BE49-F238E27FC236}">
                <a16:creationId xmlns:a16="http://schemas.microsoft.com/office/drawing/2014/main" id="{45C7F5C3-AC5D-4DED-A3D7-A1809D0444AC}"/>
              </a:ext>
            </a:extLst>
          </p:cNvPr>
          <p:cNvSpPr>
            <a:spLocks noGrp="1"/>
          </p:cNvSpPr>
          <p:nvPr/>
        </p:nvSpPr>
        <p:spPr>
          <a:xfrm>
            <a:off x="1714500" y="47339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anatomy-title-4">
            <a:extLst>
              <a:ext uri="{FF2B5EF4-FFF2-40B4-BE49-F238E27FC236}">
                <a16:creationId xmlns:a16="http://schemas.microsoft.com/office/drawing/2014/main" id="{B418B5DF-E6F4-49B5-9F79-CC080CC6BA55}"/>
              </a:ext>
            </a:extLst>
          </p:cNvPr>
          <p:cNvSpPr>
            <a:spLocks noGrp="1"/>
          </p:cNvSpPr>
          <p:nvPr/>
        </p:nvSpPr>
        <p:spPr>
          <a:xfrm>
            <a:off x="2428875" y="46005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7015B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7015B8"/>
                </a:solidFill>
                <a:latin typeface="Arial Narrow"/>
                <a:ea typeface="Arial Narrow"/>
                <a:cs typeface="Arial Narrow"/>
              </a:rPr>
              <a:t>GABARITO COMENTADO</a:t>
            </a:r>
          </a:p>
        </p:txBody>
      </p:sp>
      <p:sp>
        <p:nvSpPr>
          <p:cNvPr id="30" name="anatomy-body-4">
            <a:extLst>
              <a:ext uri="{FF2B5EF4-FFF2-40B4-BE49-F238E27FC236}">
                <a16:creationId xmlns:a16="http://schemas.microsoft.com/office/drawing/2014/main" id="{66E77FE8-9DEB-46A1-92D0-5EFB635C18EF}"/>
              </a:ext>
            </a:extLst>
          </p:cNvPr>
          <p:cNvSpPr>
            <a:spLocks noGrp="1"/>
          </p:cNvSpPr>
          <p:nvPr/>
        </p:nvSpPr>
        <p:spPr>
          <a:xfrm>
            <a:off x="2428875" y="4886325"/>
            <a:ext cx="7667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Justifica o gabarito e explica os erros dos distratores.</a:t>
            </a:r>
          </a:p>
        </p:txBody>
      </p:sp>
    </p:spTree>
    <p:extLst>
      <p:ext uri="{BB962C8B-B14F-4D97-AF65-F5344CB8AC3E}">
        <p14:creationId xmlns:p14="http://schemas.microsoft.com/office/powerpoint/2010/main" val="1719572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m 3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12">
            <a:extLst>
              <a:ext uri="{FF2B5EF4-FFF2-40B4-BE49-F238E27FC236}">
                <a16:creationId xmlns:a16="http://schemas.microsoft.com/office/drawing/2014/main" id="{EFFC5756-7625-423F-9D13-A708FAF34788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QUESTÕES NO PADRÃO ENADE</a:t>
            </a:r>
          </a:p>
        </p:txBody>
      </p:sp>
      <p:sp>
        <p:nvSpPr>
          <p:cNvPr id="4" name="footer-12">
            <a:extLst>
              <a:ext uri="{FF2B5EF4-FFF2-40B4-BE49-F238E27FC236}">
                <a16:creationId xmlns:a16="http://schemas.microsoft.com/office/drawing/2014/main" id="{CF9C6331-E7A4-4D03-AB81-2A5E3BB8FD58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12">
            <a:extLst>
              <a:ext uri="{FF2B5EF4-FFF2-40B4-BE49-F238E27FC236}">
                <a16:creationId xmlns:a16="http://schemas.microsoft.com/office/drawing/2014/main" id="{06812C5D-86B2-42B3-BE44-5E2916EA9BA8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12">
            <a:extLst>
              <a:ext uri="{FF2B5EF4-FFF2-40B4-BE49-F238E27FC236}">
                <a16:creationId xmlns:a16="http://schemas.microsoft.com/office/drawing/2014/main" id="{9C34FB9D-F18A-43FA-A3B6-32DC48101680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4B9E7E08-1692-4F5E-BF47-4B3E9992DD5B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TAXONOMIA DE BLOOM NO ENADE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0ED9C102-3937-4153-AE17-F2F39AFA754E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51AF32DF-F38F-4C51-95F1-4040ABAF45B0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lide-subtitle">
            <a:extLst>
              <a:ext uri="{FF2B5EF4-FFF2-40B4-BE49-F238E27FC236}">
                <a16:creationId xmlns:a16="http://schemas.microsoft.com/office/drawing/2014/main" id="{A379BA8E-A03A-4E89-93D5-0D190A007F2E}"/>
              </a:ext>
            </a:extLst>
          </p:cNvPr>
          <p:cNvSpPr>
            <a:spLocks noGrp="1"/>
          </p:cNvSpPr>
          <p:nvPr/>
        </p:nvSpPr>
        <p:spPr>
          <a:xfrm>
            <a:off x="6191250" y="1057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defRPr sz="1500" b="0" i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773"/>
                </a:solidFill>
                <a:latin typeface="Arial"/>
                <a:ea typeface="Arial"/>
                <a:cs typeface="Arial"/>
              </a:rPr>
              <a:t>Do reconhecimento à produção autoral</a:t>
            </a:r>
          </a:p>
        </p:txBody>
      </p:sp>
      <p:sp>
        <p:nvSpPr>
          <p:cNvPr id="11" name="bloom-1">
            <a:extLst>
              <a:ext uri="{FF2B5EF4-FFF2-40B4-BE49-F238E27FC236}">
                <a16:creationId xmlns:a16="http://schemas.microsoft.com/office/drawing/2014/main" id="{A354C845-36AC-4CFF-A203-FD5DBE3EB885}"/>
              </a:ext>
            </a:extLst>
          </p:cNvPr>
          <p:cNvSpPr>
            <a:spLocks noGrp="1"/>
          </p:cNvSpPr>
          <p:nvPr/>
        </p:nvSpPr>
        <p:spPr>
          <a:xfrm>
            <a:off x="1428750" y="5162550"/>
            <a:ext cx="4762500" cy="476250"/>
          </a:xfrm>
          <a:prstGeom prst="roundRect">
            <a:avLst>
              <a:gd name="adj" fmla="val 24000"/>
            </a:avLst>
          </a:prstGeom>
          <a:solidFill>
            <a:srgbClr val="8B8F9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bloom-title-1">
            <a:extLst>
              <a:ext uri="{FF2B5EF4-FFF2-40B4-BE49-F238E27FC236}">
                <a16:creationId xmlns:a16="http://schemas.microsoft.com/office/drawing/2014/main" id="{7BDCBAAA-2558-4E5B-893B-0F2FF91B4FCB}"/>
              </a:ext>
            </a:extLst>
          </p:cNvPr>
          <p:cNvSpPr>
            <a:spLocks noGrp="1"/>
          </p:cNvSpPr>
          <p:nvPr/>
        </p:nvSpPr>
        <p:spPr>
          <a:xfrm>
            <a:off x="1619250" y="52006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LEMBRAR</a:t>
            </a:r>
          </a:p>
        </p:txBody>
      </p:sp>
      <p:sp>
        <p:nvSpPr>
          <p:cNvPr id="13" name="bloom-verbs-1">
            <a:extLst>
              <a:ext uri="{FF2B5EF4-FFF2-40B4-BE49-F238E27FC236}">
                <a16:creationId xmlns:a16="http://schemas.microsoft.com/office/drawing/2014/main" id="{47A173E5-0C18-461F-B9F6-2B5FD0FFC632}"/>
              </a:ext>
            </a:extLst>
          </p:cNvPr>
          <p:cNvSpPr>
            <a:spLocks noGrp="1"/>
          </p:cNvSpPr>
          <p:nvPr/>
        </p:nvSpPr>
        <p:spPr>
          <a:xfrm>
            <a:off x="3571875" y="52006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identificar • listar • nomear</a:t>
            </a:r>
          </a:p>
        </p:txBody>
      </p:sp>
      <p:sp>
        <p:nvSpPr>
          <p:cNvPr id="14" name="bloom-2">
            <a:extLst>
              <a:ext uri="{FF2B5EF4-FFF2-40B4-BE49-F238E27FC236}">
                <a16:creationId xmlns:a16="http://schemas.microsoft.com/office/drawing/2014/main" id="{D12FAEF4-C4DC-49F5-9FD5-98CF0461D055}"/>
              </a:ext>
            </a:extLst>
          </p:cNvPr>
          <p:cNvSpPr>
            <a:spLocks noGrp="1"/>
          </p:cNvSpPr>
          <p:nvPr/>
        </p:nvSpPr>
        <p:spPr>
          <a:xfrm>
            <a:off x="1428750" y="4533900"/>
            <a:ext cx="5429250" cy="476250"/>
          </a:xfrm>
          <a:prstGeom prst="roundRect">
            <a:avLst>
              <a:gd name="adj" fmla="val 24000"/>
            </a:avLst>
          </a:prstGeom>
          <a:solidFill>
            <a:srgbClr val="70778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bloom-title-2">
            <a:extLst>
              <a:ext uri="{FF2B5EF4-FFF2-40B4-BE49-F238E27FC236}">
                <a16:creationId xmlns:a16="http://schemas.microsoft.com/office/drawing/2014/main" id="{C57940C1-F8E5-45A4-83D6-7EAA1ED4B04C}"/>
              </a:ext>
            </a:extLst>
          </p:cNvPr>
          <p:cNvSpPr>
            <a:spLocks noGrp="1"/>
          </p:cNvSpPr>
          <p:nvPr/>
        </p:nvSpPr>
        <p:spPr>
          <a:xfrm>
            <a:off x="1619250" y="4572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COMPREENDER</a:t>
            </a:r>
          </a:p>
        </p:txBody>
      </p:sp>
      <p:sp>
        <p:nvSpPr>
          <p:cNvPr id="16" name="bloom-verbs-2">
            <a:extLst>
              <a:ext uri="{FF2B5EF4-FFF2-40B4-BE49-F238E27FC236}">
                <a16:creationId xmlns:a16="http://schemas.microsoft.com/office/drawing/2014/main" id="{EA67D7BF-955C-4315-B27B-DE056910C550}"/>
              </a:ext>
            </a:extLst>
          </p:cNvPr>
          <p:cNvSpPr>
            <a:spLocks noGrp="1"/>
          </p:cNvSpPr>
          <p:nvPr/>
        </p:nvSpPr>
        <p:spPr>
          <a:xfrm>
            <a:off x="3571875" y="4572000"/>
            <a:ext cx="3095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explicar • descrever • interpretar</a:t>
            </a:r>
          </a:p>
        </p:txBody>
      </p:sp>
      <p:sp>
        <p:nvSpPr>
          <p:cNvPr id="17" name="bloom-3">
            <a:extLst>
              <a:ext uri="{FF2B5EF4-FFF2-40B4-BE49-F238E27FC236}">
                <a16:creationId xmlns:a16="http://schemas.microsoft.com/office/drawing/2014/main" id="{34B0B539-335B-42D2-B427-56785C16A7F8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6096000" cy="476250"/>
          </a:xfrm>
          <a:prstGeom prst="roundRect">
            <a:avLst>
              <a:gd name="adj" fmla="val 24000"/>
            </a:avLst>
          </a:prstGeom>
          <a:solidFill>
            <a:srgbClr val="11824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bloom-title-3">
            <a:extLst>
              <a:ext uri="{FF2B5EF4-FFF2-40B4-BE49-F238E27FC236}">
                <a16:creationId xmlns:a16="http://schemas.microsoft.com/office/drawing/2014/main" id="{96F10DCE-BCCC-4761-8CDC-916BCE074308}"/>
              </a:ext>
            </a:extLst>
          </p:cNvPr>
          <p:cNvSpPr>
            <a:spLocks noGrp="1"/>
          </p:cNvSpPr>
          <p:nvPr/>
        </p:nvSpPr>
        <p:spPr>
          <a:xfrm>
            <a:off x="1619250" y="39433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APLICAR</a:t>
            </a:r>
          </a:p>
        </p:txBody>
      </p:sp>
      <p:sp>
        <p:nvSpPr>
          <p:cNvPr id="19" name="bloom-verbs-3">
            <a:extLst>
              <a:ext uri="{FF2B5EF4-FFF2-40B4-BE49-F238E27FC236}">
                <a16:creationId xmlns:a16="http://schemas.microsoft.com/office/drawing/2014/main" id="{2FE195A4-2B4A-47F7-885E-A7675C7BB991}"/>
              </a:ext>
            </a:extLst>
          </p:cNvPr>
          <p:cNvSpPr>
            <a:spLocks noGrp="1"/>
          </p:cNvSpPr>
          <p:nvPr/>
        </p:nvSpPr>
        <p:spPr>
          <a:xfrm>
            <a:off x="3571875" y="3943350"/>
            <a:ext cx="3762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calcular • demonstrar • resolver</a:t>
            </a:r>
          </a:p>
        </p:txBody>
      </p:sp>
      <p:sp>
        <p:nvSpPr>
          <p:cNvPr id="20" name="bloom-4">
            <a:extLst>
              <a:ext uri="{FF2B5EF4-FFF2-40B4-BE49-F238E27FC236}">
                <a16:creationId xmlns:a16="http://schemas.microsoft.com/office/drawing/2014/main" id="{B9383A16-AE0B-410B-AE01-11AA4B61EFAD}"/>
              </a:ext>
            </a:extLst>
          </p:cNvPr>
          <p:cNvSpPr>
            <a:spLocks noGrp="1"/>
          </p:cNvSpPr>
          <p:nvPr/>
        </p:nvSpPr>
        <p:spPr>
          <a:xfrm>
            <a:off x="1428750" y="3276600"/>
            <a:ext cx="6762750" cy="476250"/>
          </a:xfrm>
          <a:prstGeom prst="roundRect">
            <a:avLst>
              <a:gd name="adj" fmla="val 24000"/>
            </a:avLst>
          </a:prstGeom>
          <a:solidFill>
            <a:srgbClr val="074C9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bloom-title-4">
            <a:extLst>
              <a:ext uri="{FF2B5EF4-FFF2-40B4-BE49-F238E27FC236}">
                <a16:creationId xmlns:a16="http://schemas.microsoft.com/office/drawing/2014/main" id="{3536A0A7-E921-4DA6-AA64-E17CD44B4FA2}"/>
              </a:ext>
            </a:extLst>
          </p:cNvPr>
          <p:cNvSpPr>
            <a:spLocks noGrp="1"/>
          </p:cNvSpPr>
          <p:nvPr/>
        </p:nvSpPr>
        <p:spPr>
          <a:xfrm>
            <a:off x="1619250" y="33147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ANALISAR</a:t>
            </a:r>
          </a:p>
        </p:txBody>
      </p:sp>
      <p:sp>
        <p:nvSpPr>
          <p:cNvPr id="22" name="bloom-verbs-4">
            <a:extLst>
              <a:ext uri="{FF2B5EF4-FFF2-40B4-BE49-F238E27FC236}">
                <a16:creationId xmlns:a16="http://schemas.microsoft.com/office/drawing/2014/main" id="{05E34EF0-AC9B-4184-8F30-2BD431693443}"/>
              </a:ext>
            </a:extLst>
          </p:cNvPr>
          <p:cNvSpPr>
            <a:spLocks noGrp="1"/>
          </p:cNvSpPr>
          <p:nvPr/>
        </p:nvSpPr>
        <p:spPr>
          <a:xfrm>
            <a:off x="3571875" y="3314700"/>
            <a:ext cx="442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comparar • diferenciar • examinar</a:t>
            </a:r>
          </a:p>
        </p:txBody>
      </p:sp>
      <p:sp>
        <p:nvSpPr>
          <p:cNvPr id="23" name="bloom-5">
            <a:extLst>
              <a:ext uri="{FF2B5EF4-FFF2-40B4-BE49-F238E27FC236}">
                <a16:creationId xmlns:a16="http://schemas.microsoft.com/office/drawing/2014/main" id="{EF4F4D76-595A-4187-94D3-101DDF84FD55}"/>
              </a:ext>
            </a:extLst>
          </p:cNvPr>
          <p:cNvSpPr>
            <a:spLocks noGrp="1"/>
          </p:cNvSpPr>
          <p:nvPr/>
        </p:nvSpPr>
        <p:spPr>
          <a:xfrm>
            <a:off x="1428750" y="2647950"/>
            <a:ext cx="7429500" cy="476250"/>
          </a:xfrm>
          <a:prstGeom prst="roundRect">
            <a:avLst>
              <a:gd name="adj" fmla="val 24000"/>
            </a:avLst>
          </a:prstGeom>
          <a:solidFill>
            <a:srgbClr val="ED5B1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bloom-title-5">
            <a:extLst>
              <a:ext uri="{FF2B5EF4-FFF2-40B4-BE49-F238E27FC236}">
                <a16:creationId xmlns:a16="http://schemas.microsoft.com/office/drawing/2014/main" id="{EEE0F62D-0D5A-48DA-B204-8F543B1032F9}"/>
              </a:ext>
            </a:extLst>
          </p:cNvPr>
          <p:cNvSpPr>
            <a:spLocks noGrp="1"/>
          </p:cNvSpPr>
          <p:nvPr/>
        </p:nvSpPr>
        <p:spPr>
          <a:xfrm>
            <a:off x="1619250" y="26860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AVALIAR</a:t>
            </a:r>
          </a:p>
        </p:txBody>
      </p:sp>
      <p:sp>
        <p:nvSpPr>
          <p:cNvPr id="25" name="bloom-verbs-5">
            <a:extLst>
              <a:ext uri="{FF2B5EF4-FFF2-40B4-BE49-F238E27FC236}">
                <a16:creationId xmlns:a16="http://schemas.microsoft.com/office/drawing/2014/main" id="{93B2D4AF-A2C6-4530-A2AD-12CE087015C3}"/>
              </a:ext>
            </a:extLst>
          </p:cNvPr>
          <p:cNvSpPr>
            <a:spLocks noGrp="1"/>
          </p:cNvSpPr>
          <p:nvPr/>
        </p:nvSpPr>
        <p:spPr>
          <a:xfrm>
            <a:off x="3571875" y="2686050"/>
            <a:ext cx="5095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julgar • defender • criticar</a:t>
            </a:r>
          </a:p>
        </p:txBody>
      </p:sp>
      <p:sp>
        <p:nvSpPr>
          <p:cNvPr id="26" name="bloom-6">
            <a:extLst>
              <a:ext uri="{FF2B5EF4-FFF2-40B4-BE49-F238E27FC236}">
                <a16:creationId xmlns:a16="http://schemas.microsoft.com/office/drawing/2014/main" id="{5404A23D-2CE0-4572-8BA9-055D6036CF1C}"/>
              </a:ext>
            </a:extLst>
          </p:cNvPr>
          <p:cNvSpPr>
            <a:spLocks noGrp="1"/>
          </p:cNvSpPr>
          <p:nvPr/>
        </p:nvSpPr>
        <p:spPr>
          <a:xfrm>
            <a:off x="1428750" y="2019300"/>
            <a:ext cx="8096250" cy="476250"/>
          </a:xfrm>
          <a:prstGeom prst="roundRect">
            <a:avLst>
              <a:gd name="adj" fmla="val 24000"/>
            </a:avLst>
          </a:prstGeom>
          <a:solidFill>
            <a:srgbClr val="7015B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bloom-title-6">
            <a:extLst>
              <a:ext uri="{FF2B5EF4-FFF2-40B4-BE49-F238E27FC236}">
                <a16:creationId xmlns:a16="http://schemas.microsoft.com/office/drawing/2014/main" id="{06980329-AC40-4A20-8984-4D284E699941}"/>
              </a:ext>
            </a:extLst>
          </p:cNvPr>
          <p:cNvSpPr>
            <a:spLocks noGrp="1"/>
          </p:cNvSpPr>
          <p:nvPr/>
        </p:nvSpPr>
        <p:spPr>
          <a:xfrm>
            <a:off x="1619250" y="20574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CRIAR</a:t>
            </a:r>
          </a:p>
        </p:txBody>
      </p:sp>
      <p:sp>
        <p:nvSpPr>
          <p:cNvPr id="28" name="bloom-verbs-6">
            <a:extLst>
              <a:ext uri="{FF2B5EF4-FFF2-40B4-BE49-F238E27FC236}">
                <a16:creationId xmlns:a16="http://schemas.microsoft.com/office/drawing/2014/main" id="{F9507D17-FC0D-4729-A065-13123C7E5DEE}"/>
              </a:ext>
            </a:extLst>
          </p:cNvPr>
          <p:cNvSpPr>
            <a:spLocks noGrp="1"/>
          </p:cNvSpPr>
          <p:nvPr/>
        </p:nvSpPr>
        <p:spPr>
          <a:xfrm>
            <a:off x="3571875" y="2057400"/>
            <a:ext cx="576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propor • elaborar • construir</a:t>
            </a:r>
          </a:p>
        </p:txBody>
      </p:sp>
      <p:sp>
        <p:nvSpPr>
          <p:cNvPr id="29" name="enade-priority">
            <a:extLst>
              <a:ext uri="{FF2B5EF4-FFF2-40B4-BE49-F238E27FC236}">
                <a16:creationId xmlns:a16="http://schemas.microsoft.com/office/drawing/2014/main" id="{951F61E3-7BE1-440F-B20B-F2AC0BD45A1F}"/>
              </a:ext>
            </a:extLst>
          </p:cNvPr>
          <p:cNvSpPr>
            <a:spLocks noGrp="1"/>
          </p:cNvSpPr>
          <p:nvPr/>
        </p:nvSpPr>
        <p:spPr>
          <a:xfrm>
            <a:off x="9858375" y="2238375"/>
            <a:ext cx="1190625" cy="2476500"/>
          </a:xfrm>
          <a:prstGeom prst="roundRect">
            <a:avLst>
              <a:gd name="adj" fmla="val 9600"/>
            </a:avLst>
          </a:prstGeom>
          <a:solidFill>
            <a:srgbClr val="FDEBED"/>
          </a:solidFill>
          <a:ln w="19050">
            <a:solidFill>
              <a:srgbClr val="ED111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0" name="enade-priority-title">
            <a:extLst>
              <a:ext uri="{FF2B5EF4-FFF2-40B4-BE49-F238E27FC236}">
                <a16:creationId xmlns:a16="http://schemas.microsoft.com/office/drawing/2014/main" id="{F9FD4D57-C82B-44A9-BE1D-215AC5240FDC}"/>
              </a:ext>
            </a:extLst>
          </p:cNvPr>
          <p:cNvSpPr>
            <a:spLocks noGrp="1"/>
          </p:cNvSpPr>
          <p:nvPr/>
        </p:nvSpPr>
        <p:spPr>
          <a:xfrm>
            <a:off x="9886950" y="2381250"/>
            <a:ext cx="114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ED111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ED1118"/>
                </a:solidFill>
                <a:latin typeface="Arial Narrow"/>
                <a:ea typeface="Arial Narrow"/>
                <a:cs typeface="Arial Narrow"/>
              </a:rPr>
              <a:t>ENADE</a:t>
            </a:r>
          </a:p>
          <a:p>
            <a:pPr algn="ctr">
              <a:defRPr sz="1800" b="1" i="0">
                <a:solidFill>
                  <a:srgbClr val="ED111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ED1118"/>
                </a:solidFill>
                <a:latin typeface="Arial Narrow"/>
                <a:ea typeface="Arial Narrow"/>
                <a:cs typeface="Arial Narrow"/>
              </a:rPr>
              <a:t>PRIORIZA</a:t>
            </a:r>
          </a:p>
        </p:txBody>
      </p:sp>
      <p:sp>
        <p:nvSpPr>
          <p:cNvPr id="31" name="enade-priority-body">
            <a:extLst>
              <a:ext uri="{FF2B5EF4-FFF2-40B4-BE49-F238E27FC236}">
                <a16:creationId xmlns:a16="http://schemas.microsoft.com/office/drawing/2014/main" id="{BECB9FE3-CD81-40C4-9E38-99F1F86BE095}"/>
              </a:ext>
            </a:extLst>
          </p:cNvPr>
          <p:cNvSpPr>
            <a:spLocks noGrp="1"/>
          </p:cNvSpPr>
          <p:nvPr/>
        </p:nvSpPr>
        <p:spPr>
          <a:xfrm>
            <a:off x="9858375" y="3190875"/>
            <a:ext cx="119062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063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3B72"/>
                </a:solidFill>
                <a:latin typeface="Arial"/>
                <a:ea typeface="Arial"/>
                <a:cs typeface="Arial"/>
              </a:rPr>
              <a:t>ANALISAR</a:t>
            </a:r>
          </a:p>
          <a:p>
            <a:pPr algn="ctr">
              <a:defRPr sz="1800" b="1" i="0">
                <a:solidFill>
                  <a:srgbClr val="063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3B72"/>
                </a:solidFill>
                <a:latin typeface="Arial"/>
                <a:ea typeface="Arial"/>
                <a:cs typeface="Arial"/>
              </a:rPr>
              <a:t>AVALIAR</a:t>
            </a:r>
          </a:p>
          <a:p>
            <a:pPr algn="ctr">
              <a:defRPr sz="1800" b="1" i="0">
                <a:solidFill>
                  <a:srgbClr val="063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3B72"/>
                </a:solidFill>
                <a:latin typeface="Arial"/>
                <a:ea typeface="Arial"/>
                <a:cs typeface="Arial"/>
              </a:rPr>
              <a:t>CRIAR</a:t>
            </a:r>
          </a:p>
        </p:txBody>
      </p:sp>
    </p:spTree>
    <p:extLst>
      <p:ext uri="{BB962C8B-B14F-4D97-AF65-F5344CB8AC3E}">
        <p14:creationId xmlns:p14="http://schemas.microsoft.com/office/powerpoint/2010/main" val="1109942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13">
            <a:extLst>
              <a:ext uri="{FF2B5EF4-FFF2-40B4-BE49-F238E27FC236}">
                <a16:creationId xmlns:a16="http://schemas.microsoft.com/office/drawing/2014/main" id="{EE254538-0725-4CF3-8E03-41815C104A7B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ENGENHARIA DE PROMPTS</a:t>
            </a:r>
          </a:p>
        </p:txBody>
      </p:sp>
      <p:sp>
        <p:nvSpPr>
          <p:cNvPr id="4" name="footer-13">
            <a:extLst>
              <a:ext uri="{FF2B5EF4-FFF2-40B4-BE49-F238E27FC236}">
                <a16:creationId xmlns:a16="http://schemas.microsoft.com/office/drawing/2014/main" id="{0A9AAC71-7C8B-4032-AAE6-65C0FC3F48CA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13">
            <a:extLst>
              <a:ext uri="{FF2B5EF4-FFF2-40B4-BE49-F238E27FC236}">
                <a16:creationId xmlns:a16="http://schemas.microsoft.com/office/drawing/2014/main" id="{96E8EF44-F90E-49BD-96ED-86774DB420AB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13">
            <a:extLst>
              <a:ext uri="{FF2B5EF4-FFF2-40B4-BE49-F238E27FC236}">
                <a16:creationId xmlns:a16="http://schemas.microsoft.com/office/drawing/2014/main" id="{75D13089-0BCF-43D6-9D9B-C8A73D1D31CF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9203CBCF-79D7-4FAD-9308-44F7A0ACC7BD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PROMPT FRACO × PROMPT PROFISSIONAL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4B424C7A-2063-4474-A701-D2665D355684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06DAEAC0-5B21-4447-BCE5-3E8D7C673A40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weak-prompt-card">
            <a:extLst>
              <a:ext uri="{FF2B5EF4-FFF2-40B4-BE49-F238E27FC236}">
                <a16:creationId xmlns:a16="http://schemas.microsoft.com/office/drawing/2014/main" id="{C692DB07-4292-4060-90C0-3B2F6FA3C123}"/>
              </a:ext>
            </a:extLst>
          </p:cNvPr>
          <p:cNvSpPr>
            <a:spLocks noGrp="1"/>
          </p:cNvSpPr>
          <p:nvPr/>
        </p:nvSpPr>
        <p:spPr>
          <a:xfrm>
            <a:off x="1285875" y="1619250"/>
            <a:ext cx="3429000" cy="4000500"/>
          </a:xfrm>
          <a:prstGeom prst="roundRect">
            <a:avLst>
              <a:gd name="adj" fmla="val 3333"/>
            </a:avLst>
          </a:prstGeom>
          <a:solidFill>
            <a:srgbClr val="FDEBED"/>
          </a:solidFill>
          <a:ln w="14288">
            <a:solidFill>
              <a:srgbClr val="ED111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1" name="weak-prompt-accent">
            <a:extLst>
              <a:ext uri="{FF2B5EF4-FFF2-40B4-BE49-F238E27FC236}">
                <a16:creationId xmlns:a16="http://schemas.microsoft.com/office/drawing/2014/main" id="{64C4A96B-A9F5-4082-BB92-769793F11DBA}"/>
              </a:ext>
            </a:extLst>
          </p:cNvPr>
          <p:cNvSpPr>
            <a:spLocks noGrp="1"/>
          </p:cNvSpPr>
          <p:nvPr/>
        </p:nvSpPr>
        <p:spPr>
          <a:xfrm>
            <a:off x="1285875" y="1619250"/>
            <a:ext cx="76200" cy="4000500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weak-prompt-title">
            <a:extLst>
              <a:ext uri="{FF2B5EF4-FFF2-40B4-BE49-F238E27FC236}">
                <a16:creationId xmlns:a16="http://schemas.microsoft.com/office/drawing/2014/main" id="{A88FF57C-A898-4DA4-821F-BF26F0F6468D}"/>
              </a:ext>
            </a:extLst>
          </p:cNvPr>
          <p:cNvSpPr>
            <a:spLocks noGrp="1"/>
          </p:cNvSpPr>
          <p:nvPr/>
        </p:nvSpPr>
        <p:spPr>
          <a:xfrm>
            <a:off x="1514475" y="1733550"/>
            <a:ext cx="3028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9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PROMPT FRACO</a:t>
            </a:r>
          </a:p>
        </p:txBody>
      </p:sp>
      <p:sp>
        <p:nvSpPr>
          <p:cNvPr id="13" name="weak-prompt-body">
            <a:extLst>
              <a:ext uri="{FF2B5EF4-FFF2-40B4-BE49-F238E27FC236}">
                <a16:creationId xmlns:a16="http://schemas.microsoft.com/office/drawing/2014/main" id="{D38553E6-1076-44D8-932A-56207BC46597}"/>
              </a:ext>
            </a:extLst>
          </p:cNvPr>
          <p:cNvSpPr>
            <a:spLocks noGrp="1"/>
          </p:cNvSpPr>
          <p:nvPr/>
        </p:nvSpPr>
        <p:spPr>
          <a:xfrm>
            <a:off x="1514475" y="2286000"/>
            <a:ext cx="300990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“Crie uma questão ENADE sobre sustentabilidade.”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RESULTADO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Genérica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Nível cognitivo baixo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Distratores óbvios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• Sem contexto real</a:t>
            </a:r>
          </a:p>
        </p:txBody>
      </p:sp>
      <p:sp>
        <p:nvSpPr>
          <p:cNvPr id="14" name="comparison-arrow">
            <a:extLst>
              <a:ext uri="{FF2B5EF4-FFF2-40B4-BE49-F238E27FC236}">
                <a16:creationId xmlns:a16="http://schemas.microsoft.com/office/drawing/2014/main" id="{C1326FBB-5168-47A2-A9F3-8B494B799BFA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619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315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strong-prompt-card">
            <a:extLst>
              <a:ext uri="{FF2B5EF4-FFF2-40B4-BE49-F238E27FC236}">
                <a16:creationId xmlns:a16="http://schemas.microsoft.com/office/drawing/2014/main" id="{A121E579-9D4B-4425-B8F3-79AF3DF892A0}"/>
              </a:ext>
            </a:extLst>
          </p:cNvPr>
          <p:cNvSpPr>
            <a:spLocks noGrp="1"/>
          </p:cNvSpPr>
          <p:nvPr/>
        </p:nvSpPr>
        <p:spPr>
          <a:xfrm>
            <a:off x="5619750" y="1619250"/>
            <a:ext cx="5238750" cy="4000500"/>
          </a:xfrm>
          <a:prstGeom prst="roundRect">
            <a:avLst>
              <a:gd name="adj" fmla="val 2857"/>
            </a:avLst>
          </a:prstGeom>
          <a:solidFill>
            <a:srgbClr val="E7F5ED"/>
          </a:solidFill>
          <a:ln w="14288">
            <a:solidFill>
              <a:srgbClr val="11824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6" name="strong-prompt-accent">
            <a:extLst>
              <a:ext uri="{FF2B5EF4-FFF2-40B4-BE49-F238E27FC236}">
                <a16:creationId xmlns:a16="http://schemas.microsoft.com/office/drawing/2014/main" id="{13D8C671-DA1C-444F-A264-CC2BBA47E933}"/>
              </a:ext>
            </a:extLst>
          </p:cNvPr>
          <p:cNvSpPr>
            <a:spLocks noGrp="1"/>
          </p:cNvSpPr>
          <p:nvPr/>
        </p:nvSpPr>
        <p:spPr>
          <a:xfrm>
            <a:off x="5619750" y="1619250"/>
            <a:ext cx="76200" cy="4000500"/>
          </a:xfrm>
          <a:prstGeom prst="rect">
            <a:avLst/>
          </a:prstGeom>
          <a:solidFill>
            <a:srgbClr val="11824B"/>
          </a:solidFill>
          <a:ln w="0">
            <a:solidFill>
              <a:srgbClr val="118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trong-prompt-title">
            <a:extLst>
              <a:ext uri="{FF2B5EF4-FFF2-40B4-BE49-F238E27FC236}">
                <a16:creationId xmlns:a16="http://schemas.microsoft.com/office/drawing/2014/main" id="{A5D2CB59-D140-439C-983A-BA6DDB1576F3}"/>
              </a:ext>
            </a:extLst>
          </p:cNvPr>
          <p:cNvSpPr>
            <a:spLocks noGrp="1"/>
          </p:cNvSpPr>
          <p:nvPr/>
        </p:nvSpPr>
        <p:spPr>
          <a:xfrm>
            <a:off x="5848350" y="1733550"/>
            <a:ext cx="4838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9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PROMPT PROFISSIONAL</a:t>
            </a:r>
          </a:p>
        </p:txBody>
      </p:sp>
      <p:sp>
        <p:nvSpPr>
          <p:cNvPr id="18" name="strong-prompt-body">
            <a:extLst>
              <a:ext uri="{FF2B5EF4-FFF2-40B4-BE49-F238E27FC236}">
                <a16:creationId xmlns:a16="http://schemas.microsoft.com/office/drawing/2014/main" id="{4C812584-A055-4529-BAAD-CF6420A469A2}"/>
              </a:ext>
            </a:extLst>
          </p:cNvPr>
          <p:cNvSpPr>
            <a:spLocks noGrp="1"/>
          </p:cNvSpPr>
          <p:nvPr/>
        </p:nvSpPr>
        <p:spPr>
          <a:xfrm>
            <a:off x="5848350" y="2286000"/>
            <a:ext cx="481965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38100" rIns="0" bIns="0" anchor="t"/>
          <a:lstStyle/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PERSONA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Docente e elaborador ENADE.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CONTEXTO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Gestão de resíduos com fontes verificáveis.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TAREFA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Texto-base, nível Analisar, cinco alternativas e gabarito.</a:t>
            </a:r>
          </a:p>
          <a:p>
            <a:endParaRPr sz="1800" b="0" i="0">
              <a:solidFill>
                <a:srgbClr val="17202B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FORMATO</a:t>
            </a:r>
          </a:p>
          <a:p>
            <a:pPr algn="l">
              <a:defRPr sz="1800" b="0" i="0">
                <a:solidFill>
                  <a:srgbClr val="1720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02B"/>
                </a:solidFill>
                <a:latin typeface="Arial"/>
                <a:ea typeface="Arial"/>
                <a:cs typeface="Arial"/>
              </a:rPr>
              <a:t>Técnico, objetivo e interdisciplinar.</a:t>
            </a:r>
          </a:p>
        </p:txBody>
      </p:sp>
      <p:sp>
        <p:nvSpPr>
          <p:cNvPr id="19" name="comparison-key-band">
            <a:extLst>
              <a:ext uri="{FF2B5EF4-FFF2-40B4-BE49-F238E27FC236}">
                <a16:creationId xmlns:a16="http://schemas.microsoft.com/office/drawing/2014/main" id="{BDC9308E-6B06-4882-BD8F-3137E3685B7D}"/>
              </a:ext>
            </a:extLst>
          </p:cNvPr>
          <p:cNvSpPr>
            <a:spLocks noGrp="1"/>
          </p:cNvSpPr>
          <p:nvPr/>
        </p:nvSpPr>
        <p:spPr>
          <a:xfrm>
            <a:off x="2047875" y="5791200"/>
            <a:ext cx="8096250" cy="438150"/>
          </a:xfrm>
          <a:prstGeom prst="roundRect">
            <a:avLst>
              <a:gd name="adj" fmla="val 26087"/>
            </a:avLst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0" name="comparison-key-text">
            <a:extLst>
              <a:ext uri="{FF2B5EF4-FFF2-40B4-BE49-F238E27FC236}">
                <a16:creationId xmlns:a16="http://schemas.microsoft.com/office/drawing/2014/main" id="{D83EC279-8AF9-4121-8931-CB60F04316B8}"/>
              </a:ext>
            </a:extLst>
          </p:cNvPr>
          <p:cNvSpPr>
            <a:spLocks noGrp="1"/>
          </p:cNvSpPr>
          <p:nvPr/>
        </p:nvSpPr>
        <p:spPr>
          <a:xfrm>
            <a:off x="2219325" y="5829300"/>
            <a:ext cx="7753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 prompt profissional explicita papel, cenário, tarefa, critérios e formato de entrega.</a:t>
            </a:r>
          </a:p>
        </p:txBody>
      </p:sp>
    </p:spTree>
    <p:extLst>
      <p:ext uri="{BB962C8B-B14F-4D97-AF65-F5344CB8AC3E}">
        <p14:creationId xmlns:p14="http://schemas.microsoft.com/office/powerpoint/2010/main" val="1739203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m 3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34675" y="213254"/>
            <a:ext cx="1066800" cy="392642"/>
          </a:xfrm>
          <a:prstGeom prst="rect">
            <a:avLst/>
          </a:prstGeom>
        </p:spPr>
      </p:pic>
      <p:sp>
        <p:nvSpPr>
          <p:cNvPr id="3" name="section-17">
            <a:extLst>
              <a:ext uri="{FF2B5EF4-FFF2-40B4-BE49-F238E27FC236}">
                <a16:creationId xmlns:a16="http://schemas.microsoft.com/office/drawing/2014/main" id="{2150877E-6BBF-4C77-869B-FF26D9A4774D}"/>
              </a:ext>
            </a:extLst>
          </p:cNvPr>
          <p:cNvSpPr>
            <a:spLocks noGrp="1"/>
          </p:cNvSpPr>
          <p:nvPr/>
        </p:nvSpPr>
        <p:spPr>
          <a:xfrm>
            <a:off x="1476375" y="2571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SÍNTESE DA FORMAÇÃO</a:t>
            </a:r>
          </a:p>
        </p:txBody>
      </p:sp>
      <p:sp>
        <p:nvSpPr>
          <p:cNvPr id="4" name="footer-17">
            <a:extLst>
              <a:ext uri="{FF2B5EF4-FFF2-40B4-BE49-F238E27FC236}">
                <a16:creationId xmlns:a16="http://schemas.microsoft.com/office/drawing/2014/main" id="{CC6550CD-AEC7-44BF-B261-DE5C0FEB2AF2}"/>
              </a:ext>
            </a:extLst>
          </p:cNvPr>
          <p:cNvSpPr>
            <a:spLocks noGrp="1"/>
          </p:cNvSpPr>
          <p:nvPr/>
        </p:nvSpPr>
        <p:spPr>
          <a:xfrm>
            <a:off x="1162050" y="6486525"/>
            <a:ext cx="5524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713" b="1" i="0">
                <a:solidFill>
                  <a:srgbClr val="074C93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074C93"/>
                </a:solidFill>
                <a:latin typeface="Arial"/>
                <a:ea typeface="Arial"/>
                <a:cs typeface="Arial"/>
              </a:rPr>
              <a:t>22/07/2026  •  18H30 ÀS 21H30  •  MANAUS – AM</a:t>
            </a:r>
          </a:p>
        </p:txBody>
      </p:sp>
      <p:sp>
        <p:nvSpPr>
          <p:cNvPr id="5" name="page-badge-17">
            <a:extLst>
              <a:ext uri="{FF2B5EF4-FFF2-40B4-BE49-F238E27FC236}">
                <a16:creationId xmlns:a16="http://schemas.microsoft.com/office/drawing/2014/main" id="{4E2C3DC2-CE04-46B4-97ED-6143191AEB1E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page-number-17">
            <a:extLst>
              <a:ext uri="{FF2B5EF4-FFF2-40B4-BE49-F238E27FC236}">
                <a16:creationId xmlns:a16="http://schemas.microsoft.com/office/drawing/2014/main" id="{41A1758B-F628-4A73-ACFE-F6464F77F410}"/>
              </a:ext>
            </a:extLst>
          </p:cNvPr>
          <p:cNvSpPr>
            <a:spLocks noGrp="1"/>
          </p:cNvSpPr>
          <p:nvPr/>
        </p:nvSpPr>
        <p:spPr>
          <a:xfrm>
            <a:off x="11315700" y="621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531EF960-F014-4603-B25A-842D5B19DC2E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 i="0">
                <a:solidFill>
                  <a:srgbClr val="063B72"/>
                </a:solidFill>
                <a:latin typeface="Arial Narrow"/>
                <a:ea typeface="Arial Narrow"/>
                <a:cs typeface="Arial Narrow"/>
              </a:rPr>
              <a:t>O QUE MUDA NA SUA PRÁTICA?</a:t>
            </a:r>
          </a:p>
        </p:txBody>
      </p:sp>
      <p:sp>
        <p:nvSpPr>
          <p:cNvPr id="8" name="title-rule-red">
            <a:extLst>
              <a:ext uri="{FF2B5EF4-FFF2-40B4-BE49-F238E27FC236}">
                <a16:creationId xmlns:a16="http://schemas.microsoft.com/office/drawing/2014/main" id="{C9DA341C-55C3-4D7D-A454-6A36323E81ED}"/>
              </a:ext>
            </a:extLst>
          </p:cNvPr>
          <p:cNvSpPr>
            <a:spLocks noGrp="1"/>
          </p:cNvSpPr>
          <p:nvPr/>
        </p:nvSpPr>
        <p:spPr>
          <a:xfrm>
            <a:off x="1162050" y="1238250"/>
            <a:ext cx="800100" cy="47625"/>
          </a:xfrm>
          <a:prstGeom prst="rect">
            <a:avLst/>
          </a:prstGeom>
          <a:solidFill>
            <a:srgbClr val="ED1118"/>
          </a:solidFill>
          <a:ln w="0">
            <a:solidFill>
              <a:srgbClr val="ED11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itle-rule-blue">
            <a:extLst>
              <a:ext uri="{FF2B5EF4-FFF2-40B4-BE49-F238E27FC236}">
                <a16:creationId xmlns:a16="http://schemas.microsoft.com/office/drawing/2014/main" id="{15F39BA9-F955-4764-9B9C-4F975E8BDB74}"/>
              </a:ext>
            </a:extLst>
          </p:cNvPr>
          <p:cNvSpPr>
            <a:spLocks noGrp="1"/>
          </p:cNvSpPr>
          <p:nvPr/>
        </p:nvSpPr>
        <p:spPr>
          <a:xfrm>
            <a:off x="2000250" y="1238250"/>
            <a:ext cx="1619250" cy="47625"/>
          </a:xfrm>
          <a:prstGeom prst="rect">
            <a:avLst/>
          </a:prstGeom>
          <a:solidFill>
            <a:srgbClr val="074C93"/>
          </a:solidFill>
          <a:ln w="0">
            <a:solidFill>
              <a:srgbClr val="07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gain-1-circle">
            <a:extLst>
              <a:ext uri="{FF2B5EF4-FFF2-40B4-BE49-F238E27FC236}">
                <a16:creationId xmlns:a16="http://schemas.microsoft.com/office/drawing/2014/main" id="{398EE615-B0FA-44E7-9A3E-9A282ACFFF2D}"/>
              </a:ext>
            </a:extLst>
          </p:cNvPr>
          <p:cNvSpPr>
            <a:spLocks noGrp="1"/>
          </p:cNvSpPr>
          <p:nvPr/>
        </p:nvSpPr>
        <p:spPr>
          <a:xfrm>
            <a:off x="1476375" y="1504950"/>
            <a:ext cx="476250" cy="4762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gain-1-label">
            <a:extLst>
              <a:ext uri="{FF2B5EF4-FFF2-40B4-BE49-F238E27FC236}">
                <a16:creationId xmlns:a16="http://schemas.microsoft.com/office/drawing/2014/main" id="{F3111789-F060-4F06-B62F-59CD0B95D3A4}"/>
              </a:ext>
            </a:extLst>
          </p:cNvPr>
          <p:cNvSpPr>
            <a:spLocks noGrp="1"/>
          </p:cNvSpPr>
          <p:nvPr/>
        </p:nvSpPr>
        <p:spPr>
          <a:xfrm>
            <a:off x="1476375" y="15049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gain-card-1">
            <a:extLst>
              <a:ext uri="{FF2B5EF4-FFF2-40B4-BE49-F238E27FC236}">
                <a16:creationId xmlns:a16="http://schemas.microsoft.com/office/drawing/2014/main" id="{284977EC-0F2D-4F66-B124-5F614B2F433A}"/>
              </a:ext>
            </a:extLst>
          </p:cNvPr>
          <p:cNvSpPr>
            <a:spLocks noGrp="1"/>
          </p:cNvSpPr>
          <p:nvPr/>
        </p:nvSpPr>
        <p:spPr>
          <a:xfrm>
            <a:off x="2095500" y="1485900"/>
            <a:ext cx="8334375" cy="609600"/>
          </a:xfrm>
          <a:prstGeom prst="roundRect">
            <a:avLst>
              <a:gd name="adj" fmla="val 18750"/>
            </a:avLst>
          </a:prstGeom>
          <a:solidFill>
            <a:srgbClr val="E8F3FB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gain-text-1">
            <a:extLst>
              <a:ext uri="{FF2B5EF4-FFF2-40B4-BE49-F238E27FC236}">
                <a16:creationId xmlns:a16="http://schemas.microsoft.com/office/drawing/2014/main" id="{A9D883C7-1776-43D5-B37E-C3C2D999FAFB}"/>
              </a:ext>
            </a:extLst>
          </p:cNvPr>
          <p:cNvSpPr>
            <a:spLocks noGrp="1"/>
          </p:cNvSpPr>
          <p:nvPr/>
        </p:nvSpPr>
        <p:spPr>
          <a:xfrm>
            <a:off x="2333625" y="1495425"/>
            <a:ext cx="785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3B72"/>
                </a:solidFill>
                <a:latin typeface="Arial"/>
                <a:ea typeface="Arial"/>
                <a:cs typeface="Arial"/>
              </a:rPr>
              <a:t>Elabora questões ENADE com mais agilidade e preserva tempo para decisões pedagógicas.</a:t>
            </a:r>
          </a:p>
        </p:txBody>
      </p:sp>
      <p:sp>
        <p:nvSpPr>
          <p:cNvPr id="14" name="gain-2-circle">
            <a:extLst>
              <a:ext uri="{FF2B5EF4-FFF2-40B4-BE49-F238E27FC236}">
                <a16:creationId xmlns:a16="http://schemas.microsoft.com/office/drawing/2014/main" id="{5978907B-3962-4CD6-87F3-50B87E81E8F4}"/>
              </a:ext>
            </a:extLst>
          </p:cNvPr>
          <p:cNvSpPr>
            <a:spLocks noGrp="1"/>
          </p:cNvSpPr>
          <p:nvPr/>
        </p:nvSpPr>
        <p:spPr>
          <a:xfrm>
            <a:off x="1476375" y="2209800"/>
            <a:ext cx="476250" cy="4762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gain-2-label">
            <a:extLst>
              <a:ext uri="{FF2B5EF4-FFF2-40B4-BE49-F238E27FC236}">
                <a16:creationId xmlns:a16="http://schemas.microsoft.com/office/drawing/2014/main" id="{DE201E12-B52A-463C-84BB-78C8DBA84238}"/>
              </a:ext>
            </a:extLst>
          </p:cNvPr>
          <p:cNvSpPr>
            <a:spLocks noGrp="1"/>
          </p:cNvSpPr>
          <p:nvPr/>
        </p:nvSpPr>
        <p:spPr>
          <a:xfrm>
            <a:off x="1476375" y="22098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gain-card-2">
            <a:extLst>
              <a:ext uri="{FF2B5EF4-FFF2-40B4-BE49-F238E27FC236}">
                <a16:creationId xmlns:a16="http://schemas.microsoft.com/office/drawing/2014/main" id="{E40B26DB-5010-49BD-B8BA-F8A984D74B4D}"/>
              </a:ext>
            </a:extLst>
          </p:cNvPr>
          <p:cNvSpPr>
            <a:spLocks noGrp="1"/>
          </p:cNvSpPr>
          <p:nvPr/>
        </p:nvSpPr>
        <p:spPr>
          <a:xfrm>
            <a:off x="2095500" y="2190750"/>
            <a:ext cx="833437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gain-text-2">
            <a:extLst>
              <a:ext uri="{FF2B5EF4-FFF2-40B4-BE49-F238E27FC236}">
                <a16:creationId xmlns:a16="http://schemas.microsoft.com/office/drawing/2014/main" id="{63B9545D-DD93-41D2-A537-F94B8A8958E9}"/>
              </a:ext>
            </a:extLst>
          </p:cNvPr>
          <p:cNvSpPr>
            <a:spLocks noGrp="1"/>
          </p:cNvSpPr>
          <p:nvPr/>
        </p:nvSpPr>
        <p:spPr>
          <a:xfrm>
            <a:off x="2333625" y="2200275"/>
            <a:ext cx="785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3B72"/>
                </a:solidFill>
                <a:latin typeface="Arial"/>
                <a:ea typeface="Arial"/>
                <a:cs typeface="Arial"/>
              </a:rPr>
              <a:t>Mantém padrão de qualidade, contextualização e coerência na avaliação institucional.</a:t>
            </a:r>
          </a:p>
        </p:txBody>
      </p:sp>
      <p:sp>
        <p:nvSpPr>
          <p:cNvPr id="18" name="gain-3-circle">
            <a:extLst>
              <a:ext uri="{FF2B5EF4-FFF2-40B4-BE49-F238E27FC236}">
                <a16:creationId xmlns:a16="http://schemas.microsoft.com/office/drawing/2014/main" id="{0A59856B-1BB3-4DA8-974E-635E6AE975E4}"/>
              </a:ext>
            </a:extLst>
          </p:cNvPr>
          <p:cNvSpPr>
            <a:spLocks noGrp="1"/>
          </p:cNvSpPr>
          <p:nvPr/>
        </p:nvSpPr>
        <p:spPr>
          <a:xfrm>
            <a:off x="1476375" y="2914650"/>
            <a:ext cx="476250" cy="4762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gain-3-label">
            <a:extLst>
              <a:ext uri="{FF2B5EF4-FFF2-40B4-BE49-F238E27FC236}">
                <a16:creationId xmlns:a16="http://schemas.microsoft.com/office/drawing/2014/main" id="{686E0899-9C77-4D4C-BCD7-B6984DA31DFB}"/>
              </a:ext>
            </a:extLst>
          </p:cNvPr>
          <p:cNvSpPr>
            <a:spLocks noGrp="1"/>
          </p:cNvSpPr>
          <p:nvPr/>
        </p:nvSpPr>
        <p:spPr>
          <a:xfrm>
            <a:off x="1476375" y="29146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gain-card-3">
            <a:extLst>
              <a:ext uri="{FF2B5EF4-FFF2-40B4-BE49-F238E27FC236}">
                <a16:creationId xmlns:a16="http://schemas.microsoft.com/office/drawing/2014/main" id="{5B1FED9D-8580-4594-8A7B-3050DE32E794}"/>
              </a:ext>
            </a:extLst>
          </p:cNvPr>
          <p:cNvSpPr>
            <a:spLocks noGrp="1"/>
          </p:cNvSpPr>
          <p:nvPr/>
        </p:nvSpPr>
        <p:spPr>
          <a:xfrm>
            <a:off x="2095500" y="2895600"/>
            <a:ext cx="8334375" cy="609600"/>
          </a:xfrm>
          <a:prstGeom prst="roundRect">
            <a:avLst>
              <a:gd name="adj" fmla="val 18750"/>
            </a:avLst>
          </a:prstGeom>
          <a:solidFill>
            <a:srgbClr val="E8F3FB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gain-text-3">
            <a:extLst>
              <a:ext uri="{FF2B5EF4-FFF2-40B4-BE49-F238E27FC236}">
                <a16:creationId xmlns:a16="http://schemas.microsoft.com/office/drawing/2014/main" id="{2D297EC7-69D2-4B88-A2FF-6844B3B2DE50}"/>
              </a:ext>
            </a:extLst>
          </p:cNvPr>
          <p:cNvSpPr>
            <a:spLocks noGrp="1"/>
          </p:cNvSpPr>
          <p:nvPr/>
        </p:nvSpPr>
        <p:spPr>
          <a:xfrm>
            <a:off x="2333625" y="2905125"/>
            <a:ext cx="785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3B72"/>
                </a:solidFill>
                <a:latin typeface="Arial"/>
                <a:ea typeface="Arial"/>
                <a:cs typeface="Arial"/>
              </a:rPr>
              <a:t>Explora a interdisciplinaridade e aproxima a avaliação de situações profissionais reais.</a:t>
            </a:r>
          </a:p>
        </p:txBody>
      </p:sp>
      <p:sp>
        <p:nvSpPr>
          <p:cNvPr id="22" name="gain-4-circle">
            <a:extLst>
              <a:ext uri="{FF2B5EF4-FFF2-40B4-BE49-F238E27FC236}">
                <a16:creationId xmlns:a16="http://schemas.microsoft.com/office/drawing/2014/main" id="{09D67D38-A8DD-4A8E-8CFE-E0296CE6CE29}"/>
              </a:ext>
            </a:extLst>
          </p:cNvPr>
          <p:cNvSpPr>
            <a:spLocks noGrp="1"/>
          </p:cNvSpPr>
          <p:nvPr/>
        </p:nvSpPr>
        <p:spPr>
          <a:xfrm>
            <a:off x="1476375" y="3619500"/>
            <a:ext cx="476250" cy="476250"/>
          </a:xfrm>
          <a:prstGeom prst="ellipse">
            <a:avLst/>
          </a:prstGeom>
          <a:solidFill>
            <a:srgbClr val="ED111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gain-4-label">
            <a:extLst>
              <a:ext uri="{FF2B5EF4-FFF2-40B4-BE49-F238E27FC236}">
                <a16:creationId xmlns:a16="http://schemas.microsoft.com/office/drawing/2014/main" id="{C74FCD10-AC99-4DEF-B7C2-E2D3579C6EDC}"/>
              </a:ext>
            </a:extLst>
          </p:cNvPr>
          <p:cNvSpPr>
            <a:spLocks noGrp="1"/>
          </p:cNvSpPr>
          <p:nvPr/>
        </p:nvSpPr>
        <p:spPr>
          <a:xfrm>
            <a:off x="1476375" y="3619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gain-card-4">
            <a:extLst>
              <a:ext uri="{FF2B5EF4-FFF2-40B4-BE49-F238E27FC236}">
                <a16:creationId xmlns:a16="http://schemas.microsoft.com/office/drawing/2014/main" id="{507ED784-AD99-411C-8BAE-77611A999537}"/>
              </a:ext>
            </a:extLst>
          </p:cNvPr>
          <p:cNvSpPr>
            <a:spLocks noGrp="1"/>
          </p:cNvSpPr>
          <p:nvPr/>
        </p:nvSpPr>
        <p:spPr>
          <a:xfrm>
            <a:off x="2095500" y="3600450"/>
            <a:ext cx="833437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gain-text-4">
            <a:extLst>
              <a:ext uri="{FF2B5EF4-FFF2-40B4-BE49-F238E27FC236}">
                <a16:creationId xmlns:a16="http://schemas.microsoft.com/office/drawing/2014/main" id="{9F238926-DD38-4CEF-AAA9-E162EF777AD8}"/>
              </a:ext>
            </a:extLst>
          </p:cNvPr>
          <p:cNvSpPr>
            <a:spLocks noGrp="1"/>
          </p:cNvSpPr>
          <p:nvPr/>
        </p:nvSpPr>
        <p:spPr>
          <a:xfrm>
            <a:off x="2333625" y="3609975"/>
            <a:ext cx="785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3B72"/>
                </a:solidFill>
                <a:latin typeface="Arial"/>
                <a:ea typeface="Arial"/>
                <a:cs typeface="Arial"/>
              </a:rPr>
              <a:t>Usa a IA como ferramenta pedagógica — suporte para pensar, revisar e aprimorar.</a:t>
            </a:r>
          </a:p>
        </p:txBody>
      </p:sp>
      <p:sp>
        <p:nvSpPr>
          <p:cNvPr id="26" name="gain-5-circle">
            <a:extLst>
              <a:ext uri="{FF2B5EF4-FFF2-40B4-BE49-F238E27FC236}">
                <a16:creationId xmlns:a16="http://schemas.microsoft.com/office/drawing/2014/main" id="{3F0D6C2D-D919-4A88-8D68-BCD60616E8F4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476250" cy="476250"/>
          </a:xfrm>
          <a:prstGeom prst="ellipse">
            <a:avLst/>
          </a:prstGeom>
          <a:solidFill>
            <a:srgbClr val="07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gain-5-label">
            <a:extLst>
              <a:ext uri="{FF2B5EF4-FFF2-40B4-BE49-F238E27FC236}">
                <a16:creationId xmlns:a16="http://schemas.microsoft.com/office/drawing/2014/main" id="{6ABEA424-B415-41BC-89F6-1B1352B152EC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gain-card-5">
            <a:extLst>
              <a:ext uri="{FF2B5EF4-FFF2-40B4-BE49-F238E27FC236}">
                <a16:creationId xmlns:a16="http://schemas.microsoft.com/office/drawing/2014/main" id="{5549BE39-38ED-45AC-AC6E-E3244F81350E}"/>
              </a:ext>
            </a:extLst>
          </p:cNvPr>
          <p:cNvSpPr>
            <a:spLocks noGrp="1"/>
          </p:cNvSpPr>
          <p:nvPr/>
        </p:nvSpPr>
        <p:spPr>
          <a:xfrm>
            <a:off x="2095500" y="4305300"/>
            <a:ext cx="8334375" cy="609600"/>
          </a:xfrm>
          <a:prstGeom prst="roundRect">
            <a:avLst>
              <a:gd name="adj" fmla="val 18750"/>
            </a:avLst>
          </a:prstGeom>
          <a:solidFill>
            <a:srgbClr val="E8F3FB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gain-text-5">
            <a:extLst>
              <a:ext uri="{FF2B5EF4-FFF2-40B4-BE49-F238E27FC236}">
                <a16:creationId xmlns:a16="http://schemas.microsoft.com/office/drawing/2014/main" id="{8EEEE581-EFE0-49B6-BC42-79531B1E7FB3}"/>
              </a:ext>
            </a:extLst>
          </p:cNvPr>
          <p:cNvSpPr>
            <a:spLocks noGrp="1"/>
          </p:cNvSpPr>
          <p:nvPr/>
        </p:nvSpPr>
        <p:spPr>
          <a:xfrm>
            <a:off x="2333625" y="4314825"/>
            <a:ext cx="785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 i="0">
                <a:solidFill>
                  <a:srgbClr val="063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3B72"/>
                </a:solidFill>
                <a:latin typeface="Arial"/>
                <a:ea typeface="Arial"/>
                <a:cs typeface="Arial"/>
              </a:rPr>
              <a:t>Documenta e reutiliza prompts como um ativo profissional da prática docente.</a:t>
            </a:r>
          </a:p>
        </p:txBody>
      </p:sp>
      <p:sp>
        <p:nvSpPr>
          <p:cNvPr id="30" name="impact-quote">
            <a:extLst>
              <a:ext uri="{FF2B5EF4-FFF2-40B4-BE49-F238E27FC236}">
                <a16:creationId xmlns:a16="http://schemas.microsoft.com/office/drawing/2014/main" id="{7357952C-3FE6-4179-A49C-11665B7E13AC}"/>
              </a:ext>
            </a:extLst>
          </p:cNvPr>
          <p:cNvSpPr>
            <a:spLocks noGrp="1"/>
          </p:cNvSpPr>
          <p:nvPr/>
        </p:nvSpPr>
        <p:spPr>
          <a:xfrm>
            <a:off x="1809750" y="5095875"/>
            <a:ext cx="8477250" cy="1000125"/>
          </a:xfrm>
          <a:prstGeom prst="roundRect">
            <a:avLst>
              <a:gd name="adj" fmla="val 11429"/>
            </a:avLst>
          </a:prstGeom>
          <a:solidFill>
            <a:srgbClr val="063B72"/>
          </a:solidFill>
          <a:ln w="0">
            <a:solidFill>
              <a:srgbClr val="063B7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1" name="impact-quote-text">
            <a:extLst>
              <a:ext uri="{FF2B5EF4-FFF2-40B4-BE49-F238E27FC236}">
                <a16:creationId xmlns:a16="http://schemas.microsoft.com/office/drawing/2014/main" id="{06F5697A-7E2B-44E8-BB84-E2BF12B5C69C}"/>
              </a:ext>
            </a:extLst>
          </p:cNvPr>
          <p:cNvSpPr>
            <a:spLocks noGrp="1"/>
          </p:cNvSpPr>
          <p:nvPr/>
        </p:nvSpPr>
        <p:spPr>
          <a:xfrm>
            <a:off x="2190750" y="5181600"/>
            <a:ext cx="7715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1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“A IA não substitui experiência, sensibilidade e propósito. Ela amplia o tempo dedicado a ensinar, inspirar e transformar vidas.”</a:t>
            </a:r>
          </a:p>
        </p:txBody>
      </p:sp>
    </p:spTree>
    <p:extLst>
      <p:ext uri="{BB962C8B-B14F-4D97-AF65-F5344CB8AC3E}">
        <p14:creationId xmlns:p14="http://schemas.microsoft.com/office/powerpoint/2010/main" val="1201227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D55AF-F9F7-9895-3EA8-88614462A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F5415C-924E-9FE4-C0CA-D992243131B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70C1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7EE8724A-BB3B-D773-51E8-82652F72B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6" name="Imagem 34">
            <a:extLst>
              <a:ext uri="{FF2B5EF4-FFF2-40B4-BE49-F238E27FC236}">
                <a16:creationId xmlns:a16="http://schemas.microsoft.com/office/drawing/2014/main" id="{C19220E5-195C-7C88-9C6C-50CDACB6A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344" y="5997491"/>
            <a:ext cx="882607" cy="882607"/>
          </a:xfrm>
          <a:prstGeom prst="rect">
            <a:avLst/>
          </a:prstGeom>
        </p:spPr>
      </p:pic>
      <p:pic>
        <p:nvPicPr>
          <p:cNvPr id="38" name="Imagem 38">
            <a:extLst>
              <a:ext uri="{FF2B5EF4-FFF2-40B4-BE49-F238E27FC236}">
                <a16:creationId xmlns:a16="http://schemas.microsoft.com/office/drawing/2014/main" id="{A476B08B-D6AB-4CBF-3F5D-10E134911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9530" y="6166418"/>
            <a:ext cx="661481" cy="661481"/>
          </a:xfrm>
          <a:prstGeom prst="rect">
            <a:avLst/>
          </a:prstGeom>
        </p:spPr>
      </p:pic>
      <p:pic>
        <p:nvPicPr>
          <p:cNvPr id="40" name="Imagem 42">
            <a:extLst>
              <a:ext uri="{FF2B5EF4-FFF2-40B4-BE49-F238E27FC236}">
                <a16:creationId xmlns:a16="http://schemas.microsoft.com/office/drawing/2014/main" id="{82AB245D-A507-8C5C-FA3D-1EEDDF354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3158" y="5997491"/>
            <a:ext cx="1308842" cy="88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760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1166</Words>
  <Application>Microsoft Office PowerPoint</Application>
  <DocSecurity>0</DocSecurity>
  <PresentationFormat>Widescreen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Arial Narrow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 Academy</cp:lastModifiedBy>
  <cp:revision>4</cp:revision>
  <dcterms:created xsi:type="dcterms:W3CDTF">2026-07-22T21:24:03Z</dcterms:created>
  <dcterms:modified xsi:type="dcterms:W3CDTF">2026-07-23T14:11:19Z</dcterms:modified>
</cp:coreProperties>
</file>